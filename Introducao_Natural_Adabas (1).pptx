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13" r:id="rId2"/>
    <p:sldId id="257" r:id="rId3"/>
    <p:sldId id="259" r:id="rId4"/>
    <p:sldId id="260" r:id="rId5"/>
    <p:sldId id="262" r:id="rId6"/>
    <p:sldId id="263" r:id="rId7"/>
    <p:sldId id="331" r:id="rId8"/>
    <p:sldId id="265" r:id="rId9"/>
    <p:sldId id="332" r:id="rId10"/>
    <p:sldId id="336" r:id="rId11"/>
    <p:sldId id="335" r:id="rId12"/>
    <p:sldId id="333" r:id="rId13"/>
    <p:sldId id="334" r:id="rId14"/>
    <p:sldId id="264" r:id="rId15"/>
    <p:sldId id="337" r:id="rId16"/>
    <p:sldId id="338" r:id="rId17"/>
    <p:sldId id="266" r:id="rId18"/>
    <p:sldId id="309" r:id="rId19"/>
    <p:sldId id="267" r:id="rId20"/>
    <p:sldId id="268" r:id="rId21"/>
    <p:sldId id="339" r:id="rId22"/>
    <p:sldId id="315" r:id="rId23"/>
    <p:sldId id="282" r:id="rId24"/>
    <p:sldId id="283" r:id="rId25"/>
    <p:sldId id="284" r:id="rId26"/>
    <p:sldId id="285" r:id="rId27"/>
    <p:sldId id="286" r:id="rId28"/>
    <p:sldId id="287" r:id="rId29"/>
    <p:sldId id="293" r:id="rId30"/>
    <p:sldId id="270" r:id="rId31"/>
    <p:sldId id="340" r:id="rId32"/>
    <p:sldId id="271" r:id="rId33"/>
    <p:sldId id="277" r:id="rId34"/>
    <p:sldId id="316" r:id="rId35"/>
    <p:sldId id="274" r:id="rId36"/>
    <p:sldId id="276" r:id="rId37"/>
    <p:sldId id="278" r:id="rId38"/>
    <p:sldId id="279" r:id="rId39"/>
    <p:sldId id="280" r:id="rId40"/>
    <p:sldId id="281" r:id="rId41"/>
    <p:sldId id="317" r:id="rId42"/>
    <p:sldId id="272" r:id="rId43"/>
    <p:sldId id="318" r:id="rId44"/>
    <p:sldId id="319" r:id="rId45"/>
    <p:sldId id="320" r:id="rId46"/>
    <p:sldId id="321" r:id="rId47"/>
    <p:sldId id="261" r:id="rId48"/>
    <p:sldId id="269" r:id="rId49"/>
    <p:sldId id="288" r:id="rId50"/>
    <p:sldId id="289" r:id="rId51"/>
    <p:sldId id="290" r:id="rId52"/>
    <p:sldId id="291" r:id="rId53"/>
    <p:sldId id="341" r:id="rId5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Getting Started With Adabas &amp; Natural Part 1 | by Mohamad Mahmood | Medium">
            <a:extLst>
              <a:ext uri="{FF2B5EF4-FFF2-40B4-BE49-F238E27FC236}">
                <a16:creationId xmlns:a16="http://schemas.microsoft.com/office/drawing/2014/main" id="{754AFA9C-A406-4991-9660-4F0DE1E14E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6" y="35487"/>
            <a:ext cx="12181014" cy="6827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894" y="137319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Natural + </a:t>
            </a:r>
            <a:r>
              <a:rPr dirty="0" err="1"/>
              <a:t>Adabas</a:t>
            </a:r>
            <a:r>
              <a:rPr dirty="0"/>
              <a:t> — Aula </a:t>
            </a:r>
            <a:r>
              <a:rPr dirty="0" err="1"/>
              <a:t>Inicial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2644726" y="640080"/>
            <a:ext cx="10789920" cy="797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rPr dirty="0" err="1"/>
              <a:t>Fundamentos</a:t>
            </a:r>
            <a:r>
              <a:rPr dirty="0"/>
              <a:t> </a:t>
            </a:r>
            <a:r>
              <a:rPr dirty="0" err="1"/>
              <a:t>práticos</a:t>
            </a:r>
            <a:r>
              <a:rPr dirty="0"/>
              <a:t> </a:t>
            </a:r>
            <a:r>
              <a:rPr dirty="0" err="1"/>
              <a:t>usando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tabela</a:t>
            </a:r>
            <a:r>
              <a:rPr dirty="0"/>
              <a:t> de </a:t>
            </a:r>
            <a:r>
              <a:rPr dirty="0" err="1"/>
              <a:t>exemplo</a:t>
            </a:r>
            <a:endParaRPr dirty="0"/>
          </a:p>
          <a:p>
            <a:pPr>
              <a:spcAft>
                <a:spcPts val="700"/>
              </a:spcAft>
              <a:defRPr sz="2000"/>
            </a:pPr>
            <a:r>
              <a:rPr dirty="0" err="1"/>
              <a:t>Objetivo</a:t>
            </a:r>
            <a:r>
              <a:rPr dirty="0"/>
              <a:t>: </a:t>
            </a:r>
            <a:r>
              <a:rPr dirty="0" err="1"/>
              <a:t>entender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o Natural </a:t>
            </a:r>
            <a:r>
              <a:rPr dirty="0" err="1"/>
              <a:t>acessa</a:t>
            </a:r>
            <a:r>
              <a:rPr dirty="0"/>
              <a:t> e </a:t>
            </a:r>
            <a:r>
              <a:rPr dirty="0" err="1"/>
              <a:t>manipula</a:t>
            </a:r>
            <a:r>
              <a:rPr dirty="0"/>
              <a:t> dados no </a:t>
            </a:r>
            <a:r>
              <a:rPr dirty="0" err="1"/>
              <a:t>Adabas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65760"/>
            <a:ext cx="1106424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rPr dirty="0"/>
              <a:t>O que é o Natural?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2357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rPr lang="pt-BR" dirty="0"/>
              <a:t>• Linguagem de desenvolvimento da Software AG</a:t>
            </a:r>
          </a:p>
          <a:p>
            <a:pPr>
              <a:spcAft>
                <a:spcPts val="700"/>
              </a:spcAft>
              <a:defRPr sz="2000"/>
            </a:pPr>
            <a:r>
              <a:rPr lang="pt-BR" dirty="0"/>
              <a:t>• Muito utilizada em ambientes corporativos e mainframe</a:t>
            </a:r>
          </a:p>
          <a:p>
            <a:pPr>
              <a:spcAft>
                <a:spcPts val="700"/>
              </a:spcAft>
              <a:defRPr sz="2000"/>
            </a:pPr>
            <a:r>
              <a:rPr lang="pt-BR" dirty="0"/>
              <a:t>• Sintaxe orientada a processamento de dados</a:t>
            </a:r>
          </a:p>
          <a:p>
            <a:pPr>
              <a:spcAft>
                <a:spcPts val="700"/>
              </a:spcAft>
              <a:defRPr sz="2000"/>
            </a:pPr>
            <a:r>
              <a:rPr lang="pt-BR" dirty="0"/>
              <a:t>• Integra-se naturalmente ao banco </a:t>
            </a:r>
            <a:r>
              <a:rPr lang="pt-BR" dirty="0" err="1"/>
              <a:t>Adabas</a:t>
            </a:r>
            <a:endParaRPr lang="pt-BR" dirty="0"/>
          </a:p>
          <a:p>
            <a:pPr>
              <a:spcAft>
                <a:spcPts val="700"/>
              </a:spcAft>
              <a:defRPr sz="2000"/>
            </a:pPr>
            <a:r>
              <a:rPr lang="pt-BR" dirty="0"/>
              <a:t>• Permite criar programas, telas, relatórios e rotinas batch</a:t>
            </a:r>
          </a:p>
          <a:p>
            <a:pPr>
              <a:spcAft>
                <a:spcPts val="1000"/>
              </a:spcAft>
              <a:defRPr sz="1800"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8302" y="309489"/>
            <a:ext cx="1113457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/>
            </a:pPr>
            <a:r>
              <a:rPr dirty="0"/>
              <a:t>O que é o </a:t>
            </a:r>
            <a:r>
              <a:rPr dirty="0" err="1"/>
              <a:t>Adabas</a:t>
            </a:r>
            <a:r>
              <a:rPr dirty="0"/>
              <a:t>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3749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rPr lang="pt-BR" dirty="0"/>
              <a:t>• Banco de dados da Software AG</a:t>
            </a:r>
          </a:p>
          <a:p>
            <a:pPr>
              <a:spcAft>
                <a:spcPts val="700"/>
              </a:spcAft>
              <a:defRPr sz="2000"/>
            </a:pPr>
            <a:r>
              <a:rPr lang="pt-BR" dirty="0"/>
              <a:t>• Modelo de dados originalmente orientado a documentos/registros</a:t>
            </a:r>
          </a:p>
          <a:p>
            <a:pPr>
              <a:spcAft>
                <a:spcPts val="700"/>
              </a:spcAft>
              <a:defRPr sz="2000"/>
            </a:pPr>
            <a:r>
              <a:rPr lang="pt-BR" dirty="0"/>
              <a:t>• Armazena registros dentro de arquivos </a:t>
            </a:r>
            <a:r>
              <a:rPr lang="pt-BR" dirty="0" err="1"/>
              <a:t>Adabas</a:t>
            </a:r>
            <a:endParaRPr lang="pt-BR" dirty="0"/>
          </a:p>
          <a:p>
            <a:pPr>
              <a:spcAft>
                <a:spcPts val="700"/>
              </a:spcAft>
              <a:defRPr sz="2000"/>
            </a:pPr>
            <a:r>
              <a:rPr lang="pt-BR" dirty="0"/>
              <a:t>• Acesso eficiente por campos descritores e índices</a:t>
            </a:r>
          </a:p>
          <a:p>
            <a:pPr>
              <a:spcAft>
                <a:spcPts val="700"/>
              </a:spcAft>
              <a:defRPr sz="2000"/>
            </a:pPr>
            <a:r>
              <a:rPr lang="pt-BR" dirty="0"/>
              <a:t>• Natural é uma das principais linguagens utilizadas com </a:t>
            </a:r>
            <a:r>
              <a:rPr lang="pt-BR" dirty="0" err="1"/>
              <a:t>Adabas</a:t>
            </a:r>
            <a:endParaRPr lang="pt-BR" dirty="0"/>
          </a:p>
          <a:p>
            <a:pPr>
              <a:spcAft>
                <a:spcPts val="1000"/>
              </a:spcAft>
              <a:defRPr sz="2200"/>
            </a:pPr>
            <a:r>
              <a:rPr lang="pt-BR" dirty="0"/>
              <a:t>• Integra-se fortemente com aplicações Natural</a:t>
            </a:r>
          </a:p>
          <a:p>
            <a:pPr>
              <a:spcAft>
                <a:spcPts val="1000"/>
              </a:spcAft>
              <a:defRPr sz="2200"/>
            </a:pPr>
            <a:r>
              <a:rPr lang="pt-BR" dirty="0"/>
              <a:t>• Adequado a sistemas corporativos de grande volume</a:t>
            </a:r>
          </a:p>
          <a:p>
            <a:pPr>
              <a:spcAft>
                <a:spcPts val="700"/>
              </a:spcAft>
              <a:defRPr sz="2000"/>
            </a:pPr>
            <a:endParaRPr lang="pt-BR" dirty="0"/>
          </a:p>
          <a:p>
            <a:pPr>
              <a:spcAft>
                <a:spcPts val="1000"/>
              </a:spcAft>
              <a:defRPr sz="22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31561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0949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dirty="0"/>
              <a:t>Natural e </a:t>
            </a:r>
            <a:r>
              <a:rPr dirty="0" err="1"/>
              <a:t>Adabas</a:t>
            </a:r>
            <a:r>
              <a:rPr dirty="0"/>
              <a:t> </a:t>
            </a:r>
            <a:r>
              <a:rPr dirty="0" err="1"/>
              <a:t>trabalhando</a:t>
            </a:r>
            <a:r>
              <a:rPr dirty="0"/>
              <a:t> </a:t>
            </a:r>
            <a:r>
              <a:rPr dirty="0" err="1"/>
              <a:t>juntos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Natural → programa e lógica da aplicação</a:t>
            </a:r>
          </a:p>
          <a:p>
            <a:pPr>
              <a:spcAft>
                <a:spcPts val="1000"/>
              </a:spcAft>
              <a:defRPr sz="2200"/>
            </a:pPr>
            <a:r>
              <a:t>Adabas → armazenamento e acesso aos dados</a:t>
            </a:r>
          </a:p>
          <a:p>
            <a:pPr>
              <a:spcAft>
                <a:spcPts val="1000"/>
              </a:spcAft>
              <a:defRPr sz="2200"/>
            </a:pPr>
            <a:endParaRPr/>
          </a:p>
          <a:p>
            <a:pPr>
              <a:spcAft>
                <a:spcPts val="1000"/>
              </a:spcAft>
              <a:defRPr sz="2200"/>
            </a:pPr>
            <a:r>
              <a:t>Exemplo conceitual:</a:t>
            </a:r>
          </a:p>
          <a:p>
            <a:pPr>
              <a:spcAft>
                <a:spcPts val="1000"/>
              </a:spcAft>
              <a:defRPr sz="2200"/>
            </a:pPr>
            <a:r>
              <a:t>Programa Natural → Adabas → Dados dos clientes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0949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Arquitetura básica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Usuário</a:t>
            </a:r>
          </a:p>
          <a:p>
            <a:pPr>
              <a:spcAft>
                <a:spcPts val="1000"/>
              </a:spcAft>
              <a:defRPr sz="2200"/>
            </a:pPr>
            <a:r>
              <a:t>↓</a:t>
            </a:r>
          </a:p>
          <a:p>
            <a:pPr>
              <a:spcAft>
                <a:spcPts val="1000"/>
              </a:spcAft>
              <a:defRPr sz="2200"/>
            </a:pPr>
            <a:r>
              <a:t>Aplicação Natural</a:t>
            </a:r>
          </a:p>
          <a:p>
            <a:pPr>
              <a:spcAft>
                <a:spcPts val="1000"/>
              </a:spcAft>
              <a:defRPr sz="2200"/>
            </a:pPr>
            <a:r>
              <a:t>↓</a:t>
            </a:r>
          </a:p>
          <a:p>
            <a:pPr>
              <a:spcAft>
                <a:spcPts val="1000"/>
              </a:spcAft>
              <a:defRPr sz="2200"/>
            </a:pPr>
            <a:r>
              <a:t>Programas Natural</a:t>
            </a:r>
          </a:p>
          <a:p>
            <a:pPr>
              <a:spcAft>
                <a:spcPts val="1000"/>
              </a:spcAft>
              <a:defRPr sz="2200"/>
            </a:pPr>
            <a:r>
              <a:t>↓</a:t>
            </a:r>
          </a:p>
          <a:p>
            <a:pPr>
              <a:spcAft>
                <a:spcPts val="1000"/>
              </a:spcAft>
              <a:defRPr sz="2200"/>
            </a:pPr>
            <a:r>
              <a:t>Adabas</a:t>
            </a:r>
          </a:p>
          <a:p>
            <a:pPr>
              <a:spcAft>
                <a:spcPts val="1000"/>
              </a:spcAft>
              <a:defRPr sz="2200"/>
            </a:pPr>
            <a:r>
              <a:t>↓</a:t>
            </a:r>
          </a:p>
          <a:p>
            <a:pPr>
              <a:spcAft>
                <a:spcPts val="1000"/>
              </a:spcAft>
              <a:defRPr sz="2200"/>
            </a:pPr>
            <a:r>
              <a:t>Arquivos / Dados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09489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Natural no ambiente Mainframe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MAINFRAME</a:t>
            </a:r>
          </a:p>
          <a:p>
            <a:pPr>
              <a:spcAft>
                <a:spcPts val="1000"/>
              </a:spcAft>
              <a:defRPr sz="2200"/>
            </a:pPr>
            <a:r>
              <a:t>• Natural → desenvolvimento da aplicação</a:t>
            </a:r>
          </a:p>
          <a:p>
            <a:pPr>
              <a:spcAft>
                <a:spcPts val="1000"/>
              </a:spcAft>
              <a:defRPr sz="2200"/>
            </a:pPr>
            <a:r>
              <a:t>• Adabas → banco de dados</a:t>
            </a:r>
          </a:p>
          <a:p>
            <a:pPr>
              <a:spcAft>
                <a:spcPts val="1000"/>
              </a:spcAft>
              <a:defRPr sz="2200"/>
            </a:pPr>
            <a:r>
              <a:t>• JCL → execução e controle de jobs</a:t>
            </a:r>
          </a:p>
          <a:p>
            <a:pPr>
              <a:spcAft>
                <a:spcPts val="1000"/>
              </a:spcAft>
              <a:defRPr sz="2200"/>
            </a:pPr>
            <a:r>
              <a:t>• TSO/ISPF → interação com o ambiente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65760"/>
            <a:ext cx="302839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lang="pt-BR" dirty="0"/>
              <a:t>Tipos de variáveis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478300" y="1171135"/>
            <a:ext cx="10789920" cy="597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 — Alfanumérico</a:t>
            </a:r>
          </a:p>
          <a:p>
            <a:pPr algn="l"/>
            <a:r>
              <a:rPr lang="pt-BR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 — Numérico</a:t>
            </a:r>
          </a:p>
          <a:p>
            <a:pPr algn="l"/>
            <a:r>
              <a:rPr lang="pt-BR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 — </a:t>
            </a:r>
            <a:r>
              <a:rPr lang="pt-BR" sz="2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Packed</a:t>
            </a:r>
            <a:r>
              <a:rPr lang="pt-BR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Decimal</a:t>
            </a:r>
          </a:p>
          <a:p>
            <a:pPr algn="l"/>
            <a:r>
              <a:rPr lang="pt-BR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 — </a:t>
            </a:r>
            <a:r>
              <a:rPr lang="pt-BR" sz="2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Integer</a:t>
            </a:r>
            <a:endParaRPr lang="pt-BR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pt-BR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 — </a:t>
            </a:r>
            <a:r>
              <a:rPr lang="pt-BR" sz="2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Binary</a:t>
            </a:r>
            <a:endParaRPr lang="pt-BR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pt-BR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 — </a:t>
            </a:r>
            <a:r>
              <a:rPr lang="pt-BR" sz="20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Logical</a:t>
            </a:r>
            <a:endParaRPr lang="pt-BR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pt-BR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 — Date</a:t>
            </a:r>
          </a:p>
          <a:p>
            <a:pPr algn="l"/>
            <a:r>
              <a:rPr lang="pt-BR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T — Time</a:t>
            </a:r>
          </a:p>
          <a:p>
            <a:pPr algn="l"/>
            <a:endParaRPr lang="pt-BR" sz="2000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algn="l"/>
            <a:r>
              <a:rPr lang="pt-BR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Para </a:t>
            </a:r>
            <a:r>
              <a:rPr lang="pt-BR" sz="2000" dirty="0">
                <a:solidFill>
                  <a:srgbClr val="222222"/>
                </a:solidFill>
                <a:latin typeface="Arial" panose="020B0604020202020204" pitchFamily="34" charset="0"/>
              </a:rPr>
              <a:t>funções t</a:t>
            </a:r>
            <a:r>
              <a:rPr lang="pt-BR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amb</a:t>
            </a:r>
            <a:r>
              <a:rPr lang="pt-BR" sz="2000" dirty="0">
                <a:solidFill>
                  <a:srgbClr val="222222"/>
                </a:solidFill>
                <a:latin typeface="Arial" panose="020B0604020202020204" pitchFamily="34" charset="0"/>
              </a:rPr>
              <a:t>ém é utilizado o *</a:t>
            </a:r>
          </a:p>
          <a:p>
            <a:pPr algn="l"/>
            <a:r>
              <a:rPr lang="pt-BR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*DATE</a:t>
            </a:r>
          </a:p>
          <a:p>
            <a:pPr algn="l"/>
            <a:r>
              <a:rPr lang="pt-BR" sz="2000" dirty="0">
                <a:solidFill>
                  <a:srgbClr val="222222"/>
                </a:solidFill>
                <a:latin typeface="Arial" panose="020B0604020202020204" pitchFamily="34" charset="0"/>
              </a:rPr>
              <a:t>*TIME</a:t>
            </a:r>
          </a:p>
          <a:p>
            <a:pPr algn="l"/>
            <a:r>
              <a:rPr lang="pt-BR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*PROGRA</a:t>
            </a:r>
            <a:r>
              <a:rPr lang="pt-BR" sz="2000" dirty="0">
                <a:solidFill>
                  <a:srgbClr val="222222"/>
                </a:solidFill>
                <a:latin typeface="Arial" panose="020B0604020202020204" pitchFamily="34" charset="0"/>
              </a:rPr>
              <a:t>M</a:t>
            </a:r>
          </a:p>
          <a:p>
            <a:pPr algn="l"/>
            <a:endParaRPr lang="pt-BR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pt-BR" sz="2000" dirty="0">
                <a:solidFill>
                  <a:srgbClr val="222222"/>
                </a:solidFill>
                <a:latin typeface="Arial" panose="020B0604020202020204" pitchFamily="34" charset="0"/>
              </a:rPr>
              <a:t>Para execução  de comando o %</a:t>
            </a:r>
          </a:p>
          <a:p>
            <a:pPr algn="l"/>
            <a:r>
              <a:rPr lang="pt-BR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%ED</a:t>
            </a:r>
            <a:r>
              <a:rPr lang="pt-BR" sz="2000" dirty="0">
                <a:solidFill>
                  <a:srgbClr val="222222"/>
                </a:solidFill>
                <a:latin typeface="Arial" panose="020B0604020202020204" pitchFamily="34" charset="0"/>
              </a:rPr>
              <a:t>IT</a:t>
            </a:r>
          </a:p>
          <a:p>
            <a:pPr algn="l"/>
            <a:r>
              <a:rPr lang="pt-BR" sz="20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%RUN</a:t>
            </a:r>
          </a:p>
          <a:p>
            <a:pPr algn="l"/>
            <a:endParaRPr lang="pt-BR" sz="20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>
              <a:spcAft>
                <a:spcPts val="1000"/>
              </a:spcAft>
              <a:defRPr sz="2200"/>
            </a:pP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409679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09489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Operações básicas no Adabas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82151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FIND → localizar registros</a:t>
            </a:r>
          </a:p>
          <a:p>
            <a:pPr>
              <a:spcAft>
                <a:spcPts val="1000"/>
              </a:spcAft>
              <a:defRPr sz="2200"/>
            </a:pPr>
            <a:r>
              <a:t>READ → ler registros</a:t>
            </a:r>
          </a:p>
          <a:p>
            <a:pPr>
              <a:spcAft>
                <a:spcPts val="1000"/>
              </a:spcAft>
              <a:defRPr sz="2200"/>
            </a:pPr>
            <a:r>
              <a:t>STORE → inserir registros</a:t>
            </a:r>
          </a:p>
          <a:p>
            <a:pPr>
              <a:spcAft>
                <a:spcPts val="1000"/>
              </a:spcAft>
              <a:defRPr sz="2200"/>
            </a:pPr>
            <a:r>
              <a:t>UPDATE → alterar registros</a:t>
            </a:r>
          </a:p>
          <a:p>
            <a:pPr>
              <a:spcAft>
                <a:spcPts val="1000"/>
              </a:spcAft>
              <a:defRPr sz="2200"/>
            </a:pPr>
            <a:r>
              <a:t>DELETE → excluir registros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84402"/>
            <a:ext cx="290214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lang="pt-BR" dirty="0"/>
              <a:t>Exemplo de FIND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794504"/>
            <a:ext cx="1078992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DEFINE DATA LOCAL</a:t>
            </a: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 #CIDADE (A20)</a:t>
            </a: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END-DEFINE</a:t>
            </a:r>
          </a:p>
          <a:p>
            <a:pPr algn="l" rtl="0"/>
            <a:endParaRPr lang="pt-B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INPUT #CIDADE</a:t>
            </a:r>
          </a:p>
          <a:p>
            <a:pPr algn="l" rtl="0"/>
            <a:endParaRPr lang="pt-B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FIND CLIENTES WITH CIDADE = #CIDADE</a:t>
            </a:r>
          </a:p>
          <a:p>
            <a:pPr algn="l" rtl="0"/>
            <a:endParaRPr lang="pt-B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  WRITE 'CODIGO: ' CODIGO</a:t>
            </a: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  WRITE 'NOME  : ' NOME</a:t>
            </a: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  WRITE 'CIDADE: ' CIDADE</a:t>
            </a:r>
          </a:p>
          <a:p>
            <a:pPr algn="l" rtl="0"/>
            <a:endParaRPr lang="pt-B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END-FIND</a:t>
            </a:r>
          </a:p>
          <a:p>
            <a:pPr algn="l" rtl="0"/>
            <a:b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END</a:t>
            </a:r>
          </a:p>
          <a:p>
            <a:endParaRPr lang="pt-BR" dirty="0"/>
          </a:p>
          <a:p>
            <a:r>
              <a:rPr lang="pt-BR" dirty="0" err="1"/>
              <a:t>Comentario</a:t>
            </a:r>
            <a:r>
              <a:rPr lang="pt-BR" dirty="0"/>
              <a:t>...</a:t>
            </a:r>
            <a:br>
              <a:rPr lang="pt-BR" dirty="0"/>
            </a:br>
            <a:r>
              <a:rPr lang="pt-BR" dirty="0"/>
              <a:t>FIND NUMER 2  -&gt;  Trará 2 registros</a:t>
            </a:r>
          </a:p>
          <a:p>
            <a:r>
              <a:rPr lang="pt-BR" dirty="0"/>
              <a:t>FIND FIRST         -&gt;  Trará o primeiro registro apenas </a:t>
            </a:r>
            <a:br>
              <a:rPr lang="pt-BR" dirty="0"/>
            </a:br>
            <a:br>
              <a:rPr lang="pt-BR"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14142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84402"/>
            <a:ext cx="301556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lang="pt-BR" dirty="0"/>
              <a:t>Exemplo de READ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794504"/>
            <a:ext cx="10789920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DEFINE DATA LOCAL</a:t>
            </a: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 #CODIGO (N5)</a:t>
            </a: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END-DEFINE</a:t>
            </a:r>
          </a:p>
          <a:p>
            <a:pPr algn="l" rtl="0"/>
            <a:b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INPUT #CODIGO</a:t>
            </a:r>
          </a:p>
          <a:p>
            <a:pPr algn="l" rtl="0"/>
            <a:endParaRPr lang="pt-B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READ (1) CLIENTES BY CODIGO = #CODIGO</a:t>
            </a:r>
          </a:p>
          <a:p>
            <a:pPr algn="l" rtl="0"/>
            <a:endParaRPr lang="pt-B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  WRITE 'CODIGO: ' CODIGO</a:t>
            </a: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  WRITE 'NOME  : ' NOME</a:t>
            </a: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  WRITE 'CIDADE: ' CIDADE</a:t>
            </a:r>
          </a:p>
          <a:p>
            <a:pPr algn="l" rtl="0"/>
            <a:endParaRPr lang="pt-B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END-READ</a:t>
            </a:r>
          </a:p>
          <a:p>
            <a:pPr algn="l" rtl="0"/>
            <a:b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END</a:t>
            </a:r>
          </a:p>
          <a:p>
            <a:br>
              <a:rPr lang="pt-BR" dirty="0"/>
            </a:br>
            <a:br>
              <a:rPr lang="pt-BR"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58407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84402"/>
            <a:ext cx="3172663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lang="pt-BR" dirty="0"/>
              <a:t>Exemplo de STORE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794504"/>
            <a:ext cx="10789920" cy="652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DEFINE DATA LOCAL</a:t>
            </a: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 #CODIGO (N5)</a:t>
            </a: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 #NOME   (A30)</a:t>
            </a: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 #CIDADE (A20)</a:t>
            </a: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END-DEFINE</a:t>
            </a:r>
          </a:p>
          <a:p>
            <a:pPr algn="l" rtl="0"/>
            <a:endParaRPr lang="pt-B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INPUT #CODIGO #NOME #CIDADE</a:t>
            </a:r>
          </a:p>
          <a:p>
            <a:pPr algn="l" rtl="0"/>
            <a:endParaRPr lang="pt-B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STORE CLIENTES</a:t>
            </a: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 MOVE #CODIGO TO CODIGO</a:t>
            </a: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 MOVE #NOME   TO NOME</a:t>
            </a: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 MOVE #CIDADE TO CIDADE</a:t>
            </a: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END-STORE</a:t>
            </a:r>
          </a:p>
          <a:p>
            <a:pPr algn="l" rtl="0"/>
            <a:endParaRPr lang="pt-B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IF *ERROR-NR = 0</a:t>
            </a: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 WRITE 'REGISTRO GRAVADO COM SUCESSO'</a:t>
            </a: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ELSE</a:t>
            </a: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 WRITE 'ERRO: ' *ERROR-NR</a:t>
            </a: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END-IF</a:t>
            </a:r>
          </a:p>
          <a:p>
            <a:pPr algn="l" rtl="0"/>
            <a:endParaRPr lang="pt-B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END</a:t>
            </a:r>
          </a:p>
          <a:p>
            <a:br>
              <a:rPr lang="pt-BR"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790154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84402"/>
            <a:ext cx="339843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lang="pt-BR" dirty="0"/>
              <a:t>Exemplo de UPDATE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597555"/>
            <a:ext cx="10789920" cy="72943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endParaRPr lang="pt-B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DEFINE DATA LOCAL</a:t>
            </a: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 #CODIGO (N5)</a:t>
            </a: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 #NOME   (A30)</a:t>
            </a: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 #CIDADE (A20)</a:t>
            </a: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END-DEFINE</a:t>
            </a:r>
          </a:p>
          <a:p>
            <a:pPr algn="l" rtl="0"/>
            <a:endParaRPr lang="pt-B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INPUT #CODIGO</a:t>
            </a: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READ (1) CLIENTES BY CODIGO = #CODIGO</a:t>
            </a: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 INPUT #NOME #CIDADE</a:t>
            </a: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 MOVE #NOME   TO NOME</a:t>
            </a: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 MOVE #CIDADE TO CIDADE</a:t>
            </a:r>
          </a:p>
          <a:p>
            <a:pPr algn="l" rtl="0"/>
            <a:b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 UPDATE</a:t>
            </a: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 IF *ERROR-NR = 0</a:t>
            </a: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    WRITE 'REGISTRO ALTERADO COM SUCESSO'</a:t>
            </a: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 ELSE</a:t>
            </a: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    WRITE 'ERRO: ' *ERROR-NR</a:t>
            </a: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 END-IF</a:t>
            </a:r>
          </a:p>
          <a:p>
            <a:pPr algn="l" rtl="0"/>
            <a:r>
              <a:rPr lang="pt-BR" dirty="0">
                <a:solidFill>
                  <a:srgbClr val="222222"/>
                </a:solidFill>
                <a:latin typeface="Arial" panose="020B0604020202020204" pitchFamily="34" charset="0"/>
              </a:rPr>
              <a:t>E</a:t>
            </a:r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ND-READ</a:t>
            </a:r>
          </a:p>
          <a:p>
            <a:pPr algn="l" rtl="0"/>
            <a:endParaRPr lang="pt-B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END</a:t>
            </a:r>
          </a:p>
          <a:p>
            <a:br>
              <a:rPr lang="pt-BR" dirty="0"/>
            </a:br>
            <a:br>
              <a:rPr lang="pt-BR"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59398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84402"/>
            <a:ext cx="3294492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lang="pt-BR" dirty="0"/>
              <a:t>Exemplo de DELETE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597555"/>
            <a:ext cx="10789920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endParaRPr lang="pt-B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 rtl="0"/>
            <a:endParaRPr lang="pt-BR" dirty="0">
              <a:solidFill>
                <a:srgbClr val="222222"/>
              </a:solidFill>
              <a:latin typeface="Arial" panose="020B0604020202020204" pitchFamily="34" charset="0"/>
            </a:endParaRP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DEFINE DATA LOCAL</a:t>
            </a: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1 #CODIGO (N5)</a:t>
            </a: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END-DEFINE</a:t>
            </a:r>
          </a:p>
          <a:p>
            <a:pPr algn="l" rtl="0"/>
            <a:b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</a:br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INPUT #CODIGO</a:t>
            </a:r>
          </a:p>
          <a:p>
            <a:pPr algn="l" rtl="0"/>
            <a:endParaRPr lang="pt-B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READ (1) CLIENTES BY CODIGO = #CODIGO</a:t>
            </a:r>
          </a:p>
          <a:p>
            <a:pPr algn="l" rtl="0"/>
            <a:endParaRPr lang="pt-B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  DELETE</a:t>
            </a:r>
          </a:p>
          <a:p>
            <a:pPr algn="l" rtl="0"/>
            <a:endParaRPr lang="pt-B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  IF *ERROR-NR = 0</a:t>
            </a: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     WRITE 'REGISTRO EXCLUIDO COM SUCESSO'</a:t>
            </a: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  ELSE</a:t>
            </a: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     WRITE 'ERRO: ' *ERROR-NR</a:t>
            </a: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  END-IF</a:t>
            </a:r>
          </a:p>
          <a:p>
            <a:pPr algn="l" rtl="0"/>
            <a:endParaRPr lang="pt-B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END-READ</a:t>
            </a:r>
          </a:p>
          <a:p>
            <a:pPr algn="l" rtl="0"/>
            <a:endParaRPr lang="pt-BR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 rtl="0"/>
            <a:r>
              <a:rPr lang="pt-BR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END</a:t>
            </a:r>
          </a:p>
          <a:p>
            <a:br>
              <a:rPr lang="pt-BR" dirty="0"/>
            </a:b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254187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Principais conceitos do Natural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rPr dirty="0"/>
              <a:t>Program – </a:t>
            </a:r>
            <a:r>
              <a:rPr dirty="0" err="1"/>
              <a:t>programa</a:t>
            </a:r>
            <a:r>
              <a:rPr dirty="0"/>
              <a:t> Natural</a:t>
            </a:r>
          </a:p>
          <a:p>
            <a:pPr>
              <a:spcAft>
                <a:spcPts val="1000"/>
              </a:spcAft>
              <a:defRPr sz="2200"/>
            </a:pPr>
            <a:r>
              <a:rPr dirty="0"/>
              <a:t>Variables – </a:t>
            </a:r>
            <a:r>
              <a:rPr dirty="0" err="1"/>
              <a:t>variáveis</a:t>
            </a:r>
            <a:endParaRPr dirty="0"/>
          </a:p>
          <a:p>
            <a:pPr>
              <a:spcAft>
                <a:spcPts val="1000"/>
              </a:spcAft>
              <a:defRPr sz="2200"/>
            </a:pPr>
            <a:r>
              <a:rPr dirty="0"/>
              <a:t>INPUT – entrada de </a:t>
            </a:r>
            <a:r>
              <a:rPr dirty="0" err="1"/>
              <a:t>informações</a:t>
            </a:r>
            <a:endParaRPr dirty="0"/>
          </a:p>
          <a:p>
            <a:pPr>
              <a:spcAft>
                <a:spcPts val="1000"/>
              </a:spcAft>
              <a:defRPr sz="2200"/>
            </a:pPr>
            <a:r>
              <a:rPr dirty="0"/>
              <a:t>DISPLAY – </a:t>
            </a:r>
            <a:r>
              <a:rPr dirty="0" err="1"/>
              <a:t>exibição</a:t>
            </a:r>
            <a:r>
              <a:rPr dirty="0"/>
              <a:t> de </a:t>
            </a:r>
            <a:r>
              <a:rPr dirty="0" err="1"/>
              <a:t>informações</a:t>
            </a:r>
            <a:endParaRPr dirty="0"/>
          </a:p>
          <a:p>
            <a:pPr>
              <a:spcAft>
                <a:spcPts val="1000"/>
              </a:spcAft>
              <a:defRPr sz="2200"/>
            </a:pPr>
            <a:r>
              <a:rPr dirty="0"/>
              <a:t>IF / ELSE </a:t>
            </a:r>
            <a:r>
              <a:rPr lang="pt-BR" dirty="0"/>
              <a:t>/ END-IF  </a:t>
            </a:r>
            <a:r>
              <a:rPr dirty="0"/>
              <a:t>– </a:t>
            </a:r>
            <a:r>
              <a:rPr dirty="0" err="1"/>
              <a:t>decisões</a:t>
            </a:r>
            <a:endParaRPr dirty="0"/>
          </a:p>
          <a:p>
            <a:pPr>
              <a:spcAft>
                <a:spcPts val="1000"/>
              </a:spcAft>
              <a:defRPr sz="2200"/>
            </a:pPr>
            <a:r>
              <a:rPr dirty="0"/>
              <a:t>FOR / REPEAT – </a:t>
            </a:r>
            <a:r>
              <a:rPr dirty="0" err="1"/>
              <a:t>repetição</a:t>
            </a:r>
            <a:endParaRPr dirty="0"/>
          </a:p>
          <a:p>
            <a:pPr>
              <a:spcAft>
                <a:spcPts val="1000"/>
              </a:spcAft>
              <a:defRPr sz="2200"/>
            </a:pPr>
            <a:r>
              <a:rPr dirty="0"/>
              <a:t>FIND / READ – </a:t>
            </a:r>
            <a:r>
              <a:rPr dirty="0" err="1"/>
              <a:t>leitura</a:t>
            </a:r>
            <a:r>
              <a:rPr dirty="0"/>
              <a:t> e </a:t>
            </a:r>
            <a:r>
              <a:rPr dirty="0" err="1"/>
              <a:t>pesquisa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691999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84402"/>
            <a:ext cx="164981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lang="pt-BR" dirty="0"/>
              <a:t>Exemplo 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288067"/>
            <a:ext cx="107899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br>
              <a:rPr lang="pt-BR" dirty="0"/>
            </a:br>
            <a:br>
              <a:rPr lang="pt-BR" dirty="0"/>
            </a:b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F24CC1-3F9A-4757-AAE4-0E59CB6C7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" y="611518"/>
            <a:ext cx="5323893" cy="60016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DEFINE DATA LOCAL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altLang="pt-BR" sz="1600" dirty="0">
                <a:solidFill>
                  <a:srgbClr val="22222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 #REGISTRO</a:t>
            </a: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2 #CODIGO       (N5)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2 #OPCAO        (N1)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2 #CONTADOR     (N3)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 2 #CIDADE       (A20)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END-DEFINE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6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REPEAT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DISPLAY '================================='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DISPLAY '       CONSULTA DE CLIENTES'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DISPLAY '================================='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DISPLAY '1 - READ POR CODIGO'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DISPLAY '2 - FIND POR CIDADE'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DISPLAY '3 - SAIR'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INPUT 'Digite a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opcao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' #OPCAO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IF #OPCAO =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INPUT 'Digite o 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codigo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' #CODIGO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READ (1) CLIENTES BY CODIGO = #CODIGO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DISPLAY '</a:t>
            </a:r>
            <a:r>
              <a:rPr kumimoji="0" lang="pt-BR" altLang="pt-BR" sz="16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Codigo</a:t>
            </a: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: ' CODIGO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DISPLAY 'Nome   : ' NOME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DISPLAY 'Cidade : ' CIDADE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END-READ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6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ELSE</a:t>
            </a:r>
          </a:p>
        </p:txBody>
      </p:sp>
    </p:spTree>
    <p:extLst>
      <p:ext uri="{BB962C8B-B14F-4D97-AF65-F5344CB8AC3E}">
        <p14:creationId xmlns:p14="http://schemas.microsoft.com/office/powerpoint/2010/main" val="2864982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84402"/>
            <a:ext cx="164981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rPr lang="pt-BR" dirty="0"/>
              <a:t>Exemplo 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731520" y="288067"/>
            <a:ext cx="1078992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br>
              <a:rPr lang="pt-BR" dirty="0"/>
            </a:br>
            <a:br>
              <a:rPr lang="pt-BR" dirty="0"/>
            </a:br>
            <a:endParaRPr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F24CC1-3F9A-4757-AAE4-0E59CB6C7C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978" y="846371"/>
            <a:ext cx="5345724" cy="56938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IF #OPCAO =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INPUT 'Digite a cidade: ' #CIDADE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#CONTADOR := 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FIND CLIENTES WITH CIDADE = #CIDADE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ADD 1 TO #CONTADOR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DISPLAY '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Codigo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: ' CODIGO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DISPLAY 'Nome   : ' NOME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DISPLAY 'Cidade : ' CIDADE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END-FIND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DISPLAY 'Total de registros encontrados: ‘  #CONTADOR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ELSE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IF #OPCAO = 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ESCAPE BOTTOM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ELSE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   DISPLAY '</a:t>
            </a:r>
            <a:r>
              <a:rPr kumimoji="0" lang="pt-BR" altLang="pt-BR" sz="1400" b="0" i="0" u="none" strike="noStrike" cap="none" normalizeH="0" baseline="0" dirty="0" err="1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Opcao</a:t>
            </a: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invalida!'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   END-IF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   END-IF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END-IF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DISPLAY ' '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DISPLAY 'Digite ENTER para continuar'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  INPUT #OPCAO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END-REPEAT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400" b="0" i="0" u="none" strike="noStrike" cap="none" normalizeH="0" baseline="0" dirty="0">
              <a:ln>
                <a:noFill/>
              </a:ln>
              <a:solidFill>
                <a:srgbClr val="222222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400" b="0" i="0" u="none" strike="noStrike" cap="none" normalizeH="0" baseline="0" dirty="0">
                <a:ln>
                  <a:noFill/>
                </a:ln>
                <a:solidFill>
                  <a:srgbClr val="22222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22265509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Natural/Adabas x COBOL/DB2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COBOL + DB2/VSAM é uma combinação tradicional de Mainframe</a:t>
            </a:r>
          </a:p>
          <a:p>
            <a:pPr>
              <a:spcAft>
                <a:spcPts val="1000"/>
              </a:spcAft>
              <a:defRPr sz="2200"/>
            </a:pPr>
            <a:r>
              <a:t>Natural + Adabas é outra combinação muito utilizada</a:t>
            </a:r>
          </a:p>
          <a:p>
            <a:pPr>
              <a:spcAft>
                <a:spcPts val="1000"/>
              </a:spcAft>
              <a:defRPr sz="2200"/>
            </a:pPr>
            <a:r>
              <a:t>A arquitetura e a forma de acesso do Adabas são próprias</a:t>
            </a:r>
          </a:p>
          <a:p>
            <a:pPr>
              <a:spcAft>
                <a:spcPts val="1000"/>
              </a:spcAft>
              <a:defRPr sz="2200"/>
            </a:pPr>
            <a:r>
              <a:t>Conhecimentos de Mainframe, COBOL e DB2 ajudam no aprendizado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219803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Natural x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99271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/>
            </a:pPr>
            <a:r>
              <a:t>Natural/Adabas:</a:t>
            </a:r>
          </a:p>
          <a:p>
            <a:pPr>
              <a:spcAft>
                <a:spcPts val="700"/>
              </a:spcAft>
              <a:defRPr sz="2000"/>
            </a:pPr>
            <a:r>
              <a:t>FIND CLIENTE WITH UF = 'SP'</a:t>
            </a:r>
          </a:p>
          <a:p>
            <a:pPr>
              <a:spcAft>
                <a:spcPts val="700"/>
              </a:spcAft>
              <a:defRPr sz="2000"/>
            </a:pPr>
            <a:endParaRPr/>
          </a:p>
          <a:p>
            <a:pPr>
              <a:spcAft>
                <a:spcPts val="700"/>
              </a:spcAft>
              <a:defRPr sz="2000"/>
            </a:pPr>
            <a:r>
              <a:t>Em SQL, conceitualmente:</a:t>
            </a:r>
          </a:p>
          <a:p>
            <a:pPr>
              <a:spcAft>
                <a:spcPts val="700"/>
              </a:spcAft>
              <a:defRPr sz="2000"/>
            </a:pPr>
            <a:r>
              <a:t>SELECT COD_CLI, NOME, CIDADE, SALDO</a:t>
            </a:r>
          </a:p>
          <a:p>
            <a:pPr>
              <a:spcAft>
                <a:spcPts val="700"/>
              </a:spcAft>
              <a:defRPr sz="2000"/>
            </a:pPr>
            <a:r>
              <a:t>FROM CLIENTES</a:t>
            </a:r>
          </a:p>
          <a:p>
            <a:pPr>
              <a:spcAft>
                <a:spcPts val="700"/>
              </a:spcAft>
              <a:defRPr sz="2000"/>
            </a:pPr>
            <a:r>
              <a:t>WHERE UF = 'SP';</a:t>
            </a:r>
          </a:p>
          <a:p>
            <a:pPr>
              <a:spcAft>
                <a:spcPts val="700"/>
              </a:spcAft>
              <a:defRPr sz="2000"/>
            </a:pPr>
            <a:endParaRPr/>
          </a:p>
          <a:p>
            <a:pPr>
              <a:spcAft>
                <a:spcPts val="700"/>
              </a:spcAft>
              <a:defRPr sz="2000"/>
            </a:pPr>
            <a:r>
              <a:t>A ideia é semelhante: localizar dados e processá-los.</a:t>
            </a:r>
          </a:p>
        </p:txBody>
      </p:sp>
    </p:spTree>
    <p:extLst>
      <p:ext uri="{BB962C8B-B14F-4D97-AF65-F5344CB8AC3E}">
        <p14:creationId xmlns:p14="http://schemas.microsoft.com/office/powerpoint/2010/main" val="2321278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O que estudar primeiro?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1. Conceitos de Mainframe</a:t>
            </a:r>
          </a:p>
          <a:p>
            <a:pPr>
              <a:spcAft>
                <a:spcPts val="1000"/>
              </a:spcAft>
              <a:defRPr sz="2200"/>
            </a:pPr>
            <a:r>
              <a:t>2. TSO/ISPF</a:t>
            </a:r>
          </a:p>
          <a:p>
            <a:pPr>
              <a:spcAft>
                <a:spcPts val="1000"/>
              </a:spcAft>
              <a:defRPr sz="2200"/>
            </a:pPr>
            <a:r>
              <a:t>3. Introdução ao Natural</a:t>
            </a:r>
          </a:p>
          <a:p>
            <a:pPr>
              <a:spcAft>
                <a:spcPts val="1000"/>
              </a:spcAft>
              <a:defRPr sz="2200"/>
            </a:pPr>
            <a:r>
              <a:t>4. Variáveis e tipos de dados</a:t>
            </a:r>
          </a:p>
          <a:p>
            <a:pPr>
              <a:spcAft>
                <a:spcPts val="1000"/>
              </a:spcAft>
              <a:defRPr sz="2200"/>
            </a:pPr>
            <a:r>
              <a:t>5. IF / ELSE e estruturas de repetição</a:t>
            </a:r>
          </a:p>
          <a:p>
            <a:pPr>
              <a:spcAft>
                <a:spcPts val="1000"/>
              </a:spcAft>
              <a:defRPr sz="2200"/>
            </a:pPr>
            <a:r>
              <a:t>6. INPUT / DISPLAY</a:t>
            </a:r>
          </a:p>
          <a:p>
            <a:pPr>
              <a:spcAft>
                <a:spcPts val="1000"/>
              </a:spcAft>
              <a:defRPr sz="2200"/>
            </a:pPr>
            <a:r>
              <a:t>7. Adabas e comandos de acesso</a:t>
            </a:r>
          </a:p>
          <a:p>
            <a:pPr>
              <a:spcAft>
                <a:spcPts val="1000"/>
              </a:spcAft>
              <a:defRPr sz="2200"/>
            </a:pPr>
            <a:r>
              <a:t>8. Programas, subprogramas e subrotinas</a:t>
            </a:r>
          </a:p>
          <a:p>
            <a:pPr>
              <a:spcAft>
                <a:spcPts val="1000"/>
              </a:spcAft>
              <a:defRPr sz="2200"/>
            </a:pPr>
            <a:r>
              <a:t>9. JCL, debug e tratamento de erros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Natural = linguagem e ambiente de desenvolvimento</a:t>
            </a:r>
          </a:p>
          <a:p>
            <a:pPr>
              <a:spcAft>
                <a:spcPts val="1000"/>
              </a:spcAft>
              <a:defRPr sz="2200"/>
            </a:pPr>
            <a:r>
              <a:t>Adabas = banco de dados</a:t>
            </a:r>
          </a:p>
          <a:p>
            <a:pPr>
              <a:spcAft>
                <a:spcPts val="1000"/>
              </a:spcAft>
              <a:defRPr sz="2200"/>
            </a:pPr>
            <a:r>
              <a:t>Natural e Adabas são fortemente integrados</a:t>
            </a:r>
          </a:p>
          <a:p>
            <a:pPr>
              <a:spcAft>
                <a:spcPts val="1000"/>
              </a:spcAft>
              <a:defRPr sz="1800"/>
            </a:pPr>
            <a:r>
              <a:t>Ambos fazem parte da história do desenvolvimento corporativo em Mainframe</a:t>
            </a:r>
          </a:p>
          <a:p>
            <a:pPr>
              <a:spcAft>
                <a:spcPts val="1000"/>
              </a:spcAft>
              <a:defRPr sz="2200"/>
            </a:pPr>
            <a:r>
              <a:t>Próximo passo: criar uma aplicação Natural/Adabas completa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1036105" cy="1143000"/>
          </a:xfrm>
        </p:spPr>
        <p:txBody>
          <a:bodyPr>
            <a:normAutofit/>
          </a:bodyPr>
          <a:lstStyle/>
          <a:p>
            <a:pPr algn="l"/>
            <a:r>
              <a:rPr dirty="0" err="1"/>
              <a:t>Entrar</a:t>
            </a:r>
            <a:r>
              <a:rPr dirty="0"/>
              <a:t> no </a:t>
            </a:r>
            <a:r>
              <a:rPr dirty="0" err="1"/>
              <a:t>ambiente</a:t>
            </a:r>
            <a:r>
              <a:rPr dirty="0"/>
              <a:t> de </a:t>
            </a:r>
            <a:r>
              <a:rPr dirty="0" err="1"/>
              <a:t>desenvolvimento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800"/>
              </a:spcAft>
              <a:defRPr sz="2000"/>
            </a:pPr>
            <a:r>
              <a:rPr dirty="0" err="1"/>
              <a:t>Acesse</a:t>
            </a:r>
            <a:r>
              <a:rPr dirty="0"/>
              <a:t> o Natural Main Menu.</a:t>
            </a:r>
          </a:p>
          <a:p>
            <a:pPr>
              <a:spcAft>
                <a:spcPts val="800"/>
              </a:spcAft>
              <a:defRPr sz="2000"/>
            </a:pPr>
            <a:r>
              <a:rPr dirty="0"/>
              <a:t>Entre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área</a:t>
            </a:r>
            <a:r>
              <a:rPr dirty="0"/>
              <a:t> de </a:t>
            </a:r>
            <a:r>
              <a:rPr dirty="0" err="1"/>
              <a:t>desenvolvimento</a:t>
            </a:r>
            <a:r>
              <a:rPr dirty="0"/>
              <a:t>/</a:t>
            </a:r>
            <a:r>
              <a:rPr dirty="0" err="1"/>
              <a:t>edição</a:t>
            </a:r>
            <a:r>
              <a:rPr dirty="0"/>
              <a:t> </a:t>
            </a:r>
            <a:r>
              <a:rPr dirty="0" err="1"/>
              <a:t>disponível</a:t>
            </a:r>
            <a:r>
              <a:rPr dirty="0"/>
              <a:t> no </a:t>
            </a:r>
            <a:r>
              <a:rPr dirty="0" err="1"/>
              <a:t>seu</a:t>
            </a:r>
            <a:r>
              <a:rPr dirty="0"/>
              <a:t> </a:t>
            </a:r>
            <a:r>
              <a:rPr dirty="0" err="1"/>
              <a:t>ambiente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2000"/>
            </a:pPr>
            <a:r>
              <a:rPr dirty="0" err="1"/>
              <a:t>Selecione</a:t>
            </a:r>
            <a:r>
              <a:rPr dirty="0"/>
              <a:t> o Map Editor </a:t>
            </a: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ele</a:t>
            </a:r>
            <a:r>
              <a:rPr dirty="0"/>
              <a:t> </a:t>
            </a:r>
            <a:r>
              <a:rPr dirty="0" err="1"/>
              <a:t>estiver</a:t>
            </a:r>
            <a:r>
              <a:rPr dirty="0"/>
              <a:t> </a:t>
            </a:r>
            <a:r>
              <a:rPr dirty="0" err="1"/>
              <a:t>disponível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2000"/>
            </a:pPr>
            <a:r>
              <a:rPr dirty="0" err="1"/>
              <a:t>Em</a:t>
            </a:r>
            <a:r>
              <a:rPr dirty="0"/>
              <a:t> ambientes </a:t>
            </a:r>
            <a:r>
              <a:rPr dirty="0" err="1"/>
              <a:t>diferentes</a:t>
            </a:r>
            <a:r>
              <a:rPr dirty="0"/>
              <a:t>, a </a:t>
            </a:r>
            <a:r>
              <a:rPr dirty="0" err="1"/>
              <a:t>opção</a:t>
            </a:r>
            <a:r>
              <a:rPr dirty="0"/>
              <a:t> e as </a:t>
            </a:r>
            <a:r>
              <a:rPr dirty="0" err="1"/>
              <a:t>teclas</a:t>
            </a:r>
            <a:r>
              <a:rPr dirty="0"/>
              <a:t> </a:t>
            </a:r>
            <a:r>
              <a:rPr dirty="0" err="1"/>
              <a:t>podem</a:t>
            </a:r>
            <a:r>
              <a:rPr dirty="0"/>
              <a:t> </a:t>
            </a:r>
            <a:r>
              <a:rPr dirty="0" err="1"/>
              <a:t>variar</a:t>
            </a:r>
            <a:r>
              <a:rPr dirty="0"/>
              <a:t>.</a:t>
            </a:r>
            <a:endParaRPr lang="pt-BR" dirty="0"/>
          </a:p>
          <a:p>
            <a:pPr>
              <a:spcAft>
                <a:spcPts val="800"/>
              </a:spcAft>
              <a:defRPr sz="2000"/>
            </a:pPr>
            <a:endParaRPr lang="pt-BR" dirty="0"/>
          </a:p>
          <a:p>
            <a:pPr algn="l" rtl="0"/>
            <a:r>
              <a:rPr lang="pt-BR" sz="2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Exemplo</a:t>
            </a:r>
          </a:p>
          <a:p>
            <a:pPr algn="l" rtl="0"/>
            <a:r>
              <a:rPr lang="pt-BR" sz="2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 quiser editar um programa:</a:t>
            </a:r>
          </a:p>
          <a:p>
            <a:pPr algn="l" rtl="0"/>
            <a:r>
              <a:rPr lang="pt-BR" sz="2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EDIT PROGRAM PROG01</a:t>
            </a:r>
          </a:p>
          <a:p>
            <a:pPr algn="l" rtl="0"/>
            <a:r>
              <a:rPr lang="pt-BR" sz="2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O Natural abre o ambiente de edição de programa.</a:t>
            </a:r>
          </a:p>
          <a:p>
            <a:pPr algn="l" rtl="0"/>
            <a:r>
              <a:rPr lang="pt-BR" sz="2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Se quiser editar um mapa:</a:t>
            </a:r>
          </a:p>
          <a:p>
            <a:pPr algn="l" rtl="0"/>
            <a:r>
              <a:rPr lang="pt-BR" sz="21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EDIT MAP MAP01</a:t>
            </a:r>
          </a:p>
          <a:p>
            <a:pPr>
              <a:spcAft>
                <a:spcPts val="800"/>
              </a:spcAft>
              <a:defRPr sz="2000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986987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328006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 err="1"/>
              <a:t>Comandos</a:t>
            </a:r>
            <a:r>
              <a:rPr dirty="0"/>
              <a:t> </a:t>
            </a:r>
            <a:r>
              <a:rPr dirty="0" err="1"/>
              <a:t>principais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054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rPr dirty="0"/>
              <a:t>EDIT — </a:t>
            </a:r>
            <a:r>
              <a:rPr dirty="0" err="1"/>
              <a:t>editar</a:t>
            </a:r>
            <a:r>
              <a:rPr dirty="0"/>
              <a:t> </a:t>
            </a:r>
            <a:r>
              <a:rPr dirty="0" err="1"/>
              <a:t>objeto</a:t>
            </a:r>
            <a:r>
              <a:rPr dirty="0"/>
              <a:t>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CHECK — </a:t>
            </a:r>
            <a:r>
              <a:rPr dirty="0" err="1"/>
              <a:t>verificar</a:t>
            </a:r>
            <a:r>
              <a:rPr dirty="0"/>
              <a:t> </a:t>
            </a:r>
            <a:r>
              <a:rPr dirty="0" err="1"/>
              <a:t>sintaxe</a:t>
            </a:r>
            <a:r>
              <a:rPr dirty="0"/>
              <a:t>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SAVE — </a:t>
            </a:r>
            <a:r>
              <a:rPr dirty="0" err="1"/>
              <a:t>salvar</a:t>
            </a:r>
            <a:r>
              <a:rPr dirty="0"/>
              <a:t> </a:t>
            </a:r>
            <a:r>
              <a:rPr dirty="0" err="1"/>
              <a:t>fonte</a:t>
            </a:r>
            <a:r>
              <a:rPr dirty="0"/>
              <a:t>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STOW — </a:t>
            </a:r>
            <a:r>
              <a:rPr dirty="0" err="1"/>
              <a:t>salvar</a:t>
            </a:r>
            <a:r>
              <a:rPr dirty="0"/>
              <a:t> e </a:t>
            </a:r>
            <a:r>
              <a:rPr dirty="0" err="1"/>
              <a:t>gerar</a:t>
            </a:r>
            <a:r>
              <a:rPr dirty="0"/>
              <a:t>/</a:t>
            </a:r>
            <a:r>
              <a:rPr dirty="0" err="1"/>
              <a:t>catalogar</a:t>
            </a:r>
            <a:r>
              <a:rPr dirty="0"/>
              <a:t> </a:t>
            </a:r>
            <a:r>
              <a:rPr dirty="0" err="1"/>
              <a:t>objeto</a:t>
            </a:r>
            <a:r>
              <a:rPr dirty="0"/>
              <a:t>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RUN — </a:t>
            </a:r>
            <a:r>
              <a:rPr dirty="0" err="1"/>
              <a:t>executar</a:t>
            </a:r>
            <a:r>
              <a:rPr dirty="0"/>
              <a:t>.</a:t>
            </a:r>
          </a:p>
          <a:p>
            <a:pPr>
              <a:spcAft>
                <a:spcPts val="900"/>
              </a:spcAft>
              <a:defRPr sz="1900"/>
            </a:pPr>
            <a:r>
              <a:rPr lang="pt-BR" dirty="0"/>
              <a:t>GENERATE —  compilar o mapa</a:t>
            </a:r>
          </a:p>
          <a:p>
            <a:pPr>
              <a:spcAft>
                <a:spcPts val="900"/>
              </a:spcAft>
              <a:defRPr sz="1900"/>
            </a:pPr>
            <a:endParaRPr lang="pt-BR" dirty="0"/>
          </a:p>
          <a:p>
            <a:pPr>
              <a:spcAft>
                <a:spcPts val="900"/>
              </a:spcAft>
              <a:defRPr sz="1900"/>
            </a:pPr>
            <a:r>
              <a:rPr lang="pt-BR" dirty="0"/>
              <a:t>Comandos via programa</a:t>
            </a:r>
            <a:endParaRPr dirty="0"/>
          </a:p>
          <a:p>
            <a:pPr>
              <a:spcAft>
                <a:spcPts val="900"/>
              </a:spcAft>
              <a:defRPr sz="1900"/>
            </a:pPr>
            <a:r>
              <a:rPr dirty="0"/>
              <a:t>FIND/READ — </a:t>
            </a:r>
            <a:r>
              <a:rPr dirty="0" err="1"/>
              <a:t>leitura</a:t>
            </a:r>
            <a:r>
              <a:rPr dirty="0"/>
              <a:t> </a:t>
            </a:r>
            <a:r>
              <a:rPr dirty="0" err="1"/>
              <a:t>Adabas</a:t>
            </a:r>
            <a:r>
              <a:rPr dirty="0"/>
              <a:t>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STORE/UPDATE/DELETE — </a:t>
            </a:r>
            <a:r>
              <a:rPr dirty="0" err="1"/>
              <a:t>manutenção</a:t>
            </a:r>
            <a:r>
              <a:rPr dirty="0"/>
              <a:t> de dados.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4631660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Natural + Adabas — Aula: Criação de Telas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4569" y="1142181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rPr dirty="0" err="1"/>
              <a:t>Objetivo</a:t>
            </a:r>
            <a:r>
              <a:rPr dirty="0"/>
              <a:t>: </a:t>
            </a:r>
            <a:r>
              <a:rPr dirty="0" err="1"/>
              <a:t>entender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aplicação</a:t>
            </a:r>
            <a:r>
              <a:rPr dirty="0"/>
              <a:t> Natural </a:t>
            </a:r>
            <a:r>
              <a:rPr dirty="0" err="1"/>
              <a:t>apresenta</a:t>
            </a:r>
            <a:r>
              <a:rPr dirty="0"/>
              <a:t>, </a:t>
            </a:r>
            <a:r>
              <a:rPr dirty="0" err="1"/>
              <a:t>recebe</a:t>
            </a:r>
            <a:r>
              <a:rPr dirty="0"/>
              <a:t> e </a:t>
            </a:r>
            <a:r>
              <a:rPr dirty="0" err="1"/>
              <a:t>valida</a:t>
            </a:r>
            <a:r>
              <a:rPr dirty="0"/>
              <a:t> dados.</a:t>
            </a:r>
          </a:p>
          <a:p>
            <a:pPr>
              <a:spcAft>
                <a:spcPts val="1000"/>
              </a:spcAft>
              <a:defRPr sz="2200"/>
            </a:pPr>
            <a:r>
              <a:rPr dirty="0" err="1"/>
              <a:t>Criar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tela</a:t>
            </a:r>
            <a:r>
              <a:rPr dirty="0"/>
              <a:t> simples de </a:t>
            </a:r>
            <a:r>
              <a:rPr dirty="0" err="1"/>
              <a:t>cadastro</a:t>
            </a:r>
            <a:r>
              <a:rPr dirty="0"/>
              <a:t>/consulta.</a:t>
            </a:r>
          </a:p>
          <a:p>
            <a:pPr>
              <a:spcAft>
                <a:spcPts val="1000"/>
              </a:spcAft>
              <a:defRPr sz="2200"/>
            </a:pPr>
            <a:r>
              <a:rPr dirty="0" err="1"/>
              <a:t>Relacionar</a:t>
            </a:r>
            <a:r>
              <a:rPr dirty="0"/>
              <a:t> a </a:t>
            </a:r>
            <a:r>
              <a:rPr dirty="0" err="1"/>
              <a:t>tela</a:t>
            </a:r>
            <a:r>
              <a:rPr dirty="0"/>
              <a:t> com </a:t>
            </a:r>
            <a:r>
              <a:rPr dirty="0" err="1"/>
              <a:t>variáveis</a:t>
            </a:r>
            <a:r>
              <a:rPr dirty="0"/>
              <a:t> Natural e, </a:t>
            </a:r>
            <a:r>
              <a:rPr dirty="0" err="1"/>
              <a:t>posteriormente</a:t>
            </a:r>
            <a:r>
              <a:rPr dirty="0"/>
              <a:t>, com dados </a:t>
            </a:r>
            <a:r>
              <a:rPr dirty="0" err="1"/>
              <a:t>Adabas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2200"/>
            </a:pPr>
            <a:r>
              <a:rPr dirty="0" err="1"/>
              <a:t>Prática</a:t>
            </a:r>
            <a:r>
              <a:rPr dirty="0"/>
              <a:t>: </a:t>
            </a:r>
            <a:r>
              <a:rPr dirty="0" err="1"/>
              <a:t>montar</a:t>
            </a:r>
            <a:r>
              <a:rPr dirty="0"/>
              <a:t> um </a:t>
            </a:r>
            <a:r>
              <a:rPr dirty="0" err="1"/>
              <a:t>pequeno</a:t>
            </a:r>
            <a:r>
              <a:rPr dirty="0"/>
              <a:t> </a:t>
            </a:r>
            <a:r>
              <a:rPr dirty="0" err="1"/>
              <a:t>fluxo</a:t>
            </a:r>
            <a:r>
              <a:rPr dirty="0"/>
              <a:t> de </a:t>
            </a:r>
            <a:r>
              <a:rPr dirty="0" err="1"/>
              <a:t>inclusão</a:t>
            </a:r>
            <a:r>
              <a:rPr dirty="0"/>
              <a:t> e consulta.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06580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44919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O que é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tela</a:t>
            </a:r>
            <a:r>
              <a:rPr dirty="0"/>
              <a:t> no Natural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Em Natural, a interface pode ser construída com comandos de entrada/saída ou com um MAP.</a:t>
            </a:r>
          </a:p>
          <a:p>
            <a:pPr>
              <a:spcAft>
                <a:spcPts val="1000"/>
              </a:spcAft>
              <a:defRPr sz="2000"/>
            </a:pPr>
            <a:r>
              <a:t>MAP é o recurso mais estruturado para definir campos, textos, posições e atributos da tela.</a:t>
            </a:r>
          </a:p>
          <a:p>
            <a:pPr>
              <a:spcAft>
                <a:spcPts val="1000"/>
              </a:spcAft>
              <a:defRPr sz="2000"/>
            </a:pPr>
            <a:r>
              <a:t>A tela recebe valores do usuário e devolve esses valores ao programa por meio de variáveis.</a:t>
            </a:r>
          </a:p>
          <a:p>
            <a:pPr>
              <a:spcAft>
                <a:spcPts val="1000"/>
              </a:spcAft>
              <a:defRPr sz="2000"/>
            </a:pPr>
            <a:r>
              <a:t>O programa Natural fica responsável pela lógica de negócio e pelo acesso ao Adabas.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564727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294503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 err="1"/>
              <a:t>Arquitetura</a:t>
            </a:r>
            <a:r>
              <a:rPr dirty="0"/>
              <a:t> </a:t>
            </a:r>
            <a:r>
              <a:rPr dirty="0" err="1"/>
              <a:t>básica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640080" y="2103120"/>
            <a:ext cx="2834640" cy="1371600"/>
          </a:xfrm>
          <a:prstGeom prst="roundRect">
            <a:avLst/>
          </a:prstGeom>
          <a:solidFill>
            <a:srgbClr val="EBF0F5"/>
          </a:solidFill>
          <a:ln>
            <a:solidFill>
              <a:srgbClr val="5A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286000"/>
            <a:ext cx="2560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Usuário</a:t>
            </a:r>
          </a:p>
          <a:p>
            <a:pPr algn="ctr">
              <a:defRPr sz="1300"/>
            </a:pPr>
            <a:r>
              <a:t>Digita / seleciona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2103120"/>
            <a:ext cx="2834640" cy="1371600"/>
          </a:xfrm>
          <a:prstGeom prst="roundRect">
            <a:avLst/>
          </a:prstGeom>
          <a:solidFill>
            <a:srgbClr val="EBF0F5"/>
          </a:solidFill>
          <a:ln>
            <a:solidFill>
              <a:srgbClr val="5A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343400" y="2286000"/>
            <a:ext cx="2560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MAP / Tela</a:t>
            </a:r>
          </a:p>
          <a:p>
            <a:pPr algn="ctr">
              <a:defRPr sz="1300"/>
            </a:pPr>
            <a:r>
              <a:t>Campos + textos + atributos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103120"/>
            <a:ext cx="2834640" cy="1371600"/>
          </a:xfrm>
          <a:prstGeom prst="roundRect">
            <a:avLst/>
          </a:prstGeom>
          <a:solidFill>
            <a:srgbClr val="EBF0F5"/>
          </a:solidFill>
          <a:ln>
            <a:solidFill>
              <a:srgbClr val="5A64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09560" y="2286000"/>
            <a:ext cx="2560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/>
            </a:pPr>
            <a:r>
              <a:t>Natural</a:t>
            </a:r>
          </a:p>
          <a:p>
            <a:pPr algn="ctr">
              <a:defRPr sz="1300"/>
            </a:pPr>
            <a:r>
              <a:t>Validação + regras + fluxo</a:t>
            </a:r>
          </a:p>
        </p:txBody>
      </p:sp>
      <p:sp>
        <p:nvSpPr>
          <p:cNvPr id="9" name="Right Arrow 8"/>
          <p:cNvSpPr/>
          <p:nvPr/>
        </p:nvSpPr>
        <p:spPr>
          <a:xfrm>
            <a:off x="3520440" y="2514600"/>
            <a:ext cx="548640" cy="502920"/>
          </a:xfrm>
          <a:prstGeom prst="rightArrow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ight Arrow 9"/>
          <p:cNvSpPr/>
          <p:nvPr/>
        </p:nvSpPr>
        <p:spPr>
          <a:xfrm>
            <a:off x="7086600" y="2514600"/>
            <a:ext cx="548640" cy="502920"/>
          </a:xfrm>
          <a:prstGeom prst="rightArrow">
            <a:avLst/>
          </a:prstGeom>
          <a:solidFill>
            <a:srgbClr val="787878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206240" y="4389120"/>
            <a:ext cx="2834640" cy="1097280"/>
          </a:xfrm>
          <a:prstGeom prst="roundRect">
            <a:avLst/>
          </a:prstGeom>
          <a:solidFill>
            <a:srgbClr val="F5F5F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89120" y="4617720"/>
            <a:ext cx="246888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/>
            </a:pPr>
            <a:r>
              <a:t>Adabas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729440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572688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MAP: o </a:t>
            </a:r>
            <a:r>
              <a:rPr dirty="0" err="1"/>
              <a:t>componente</a:t>
            </a:r>
            <a:r>
              <a:rPr dirty="0"/>
              <a:t> principal da </a:t>
            </a:r>
            <a:r>
              <a:rPr dirty="0" err="1"/>
              <a:t>tela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O MAP permite definir a apresentação sem misturar toda a formatação ao código do programa.</a:t>
            </a:r>
          </a:p>
          <a:p>
            <a:pPr>
              <a:spcAft>
                <a:spcPts val="1000"/>
              </a:spcAft>
              <a:defRPr sz="2000"/>
            </a:pPr>
            <a:r>
              <a:t>É possível criar campos de entrada, saída, textos, máscaras e atributos.</a:t>
            </a:r>
          </a:p>
          <a:p>
            <a:pPr>
              <a:spcAft>
                <a:spcPts val="1000"/>
              </a:spcAft>
              <a:defRPr sz="2000"/>
            </a:pPr>
            <a:r>
              <a:t>Os campos do MAP são associados a variáveis que o Natural utiliza durante a execução.</a:t>
            </a:r>
          </a:p>
          <a:p>
            <a:pPr>
              <a:spcAft>
                <a:spcPts val="1000"/>
              </a:spcAft>
              <a:defRPr sz="2000"/>
            </a:pPr>
            <a:r>
              <a:t>Em ambientes Natural clássicos, o desenvolvimento pode ser feito pelo Map Editor.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374104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445974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 err="1"/>
              <a:t>Exemplo</a:t>
            </a:r>
            <a:r>
              <a:rPr dirty="0"/>
              <a:t> de </a:t>
            </a:r>
            <a:r>
              <a:rPr dirty="0" err="1"/>
              <a:t>desenho</a:t>
            </a:r>
            <a:r>
              <a:rPr dirty="0"/>
              <a:t> de </a:t>
            </a:r>
            <a:r>
              <a:rPr dirty="0" err="1"/>
              <a:t>tela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914400" y="1417320"/>
            <a:ext cx="10241280" cy="4480560"/>
          </a:xfrm>
          <a:prstGeom prst="rect">
            <a:avLst/>
          </a:prstGeom>
          <a:solidFill>
            <a:srgbClr val="0F0F0F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34440" y="1737360"/>
            <a:ext cx="96012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E6E6E6"/>
                </a:solidFill>
                <a:latin typeface="Courier New"/>
              </a:defRPr>
            </a:pPr>
            <a:r>
              <a:t>              CADASTRO DE CLIENTE</a:t>
            </a:r>
          </a:p>
          <a:p>
            <a:pPr>
              <a:defRPr sz="2000">
                <a:solidFill>
                  <a:srgbClr val="E6E6E6"/>
                </a:solidFill>
                <a:latin typeface="Courier New"/>
              </a:defRPr>
            </a:pPr>
            <a:endParaRPr/>
          </a:p>
          <a:p>
            <a:pPr>
              <a:defRPr sz="2000">
                <a:solidFill>
                  <a:srgbClr val="E6E6E6"/>
                </a:solidFill>
                <a:latin typeface="Courier New"/>
              </a:defRPr>
            </a:pPr>
            <a:r>
              <a:t>  Código:       [__________]</a:t>
            </a:r>
          </a:p>
          <a:p>
            <a:pPr>
              <a:defRPr sz="2000">
                <a:solidFill>
                  <a:srgbClr val="E6E6E6"/>
                </a:solidFill>
                <a:latin typeface="Courier New"/>
              </a:defRPr>
            </a:pPr>
            <a:r>
              <a:t>  Nome:         [____________________________]</a:t>
            </a:r>
          </a:p>
          <a:p>
            <a:pPr>
              <a:defRPr sz="2000">
                <a:solidFill>
                  <a:srgbClr val="E6E6E6"/>
                </a:solidFill>
                <a:latin typeface="Courier New"/>
              </a:defRPr>
            </a:pPr>
            <a:r>
              <a:t>  Cidade:       [____________________]</a:t>
            </a:r>
          </a:p>
          <a:p>
            <a:pPr>
              <a:defRPr sz="2000">
                <a:solidFill>
                  <a:srgbClr val="E6E6E6"/>
                </a:solidFill>
                <a:latin typeface="Courier New"/>
              </a:defRPr>
            </a:pPr>
            <a:r>
              <a:t>  UF:           [__]</a:t>
            </a:r>
          </a:p>
          <a:p>
            <a:pPr>
              <a:defRPr sz="2000">
                <a:solidFill>
                  <a:srgbClr val="E6E6E6"/>
                </a:solidFill>
                <a:latin typeface="Courier New"/>
              </a:defRPr>
            </a:pPr>
            <a:endParaRPr/>
          </a:p>
          <a:p>
            <a:pPr>
              <a:defRPr sz="2000">
                <a:solidFill>
                  <a:srgbClr val="E6E6E6"/>
                </a:solidFill>
                <a:latin typeface="Courier New"/>
              </a:defRPr>
            </a:pPr>
            <a:r>
              <a:t>  F1=Incluir   F2=Consultar   F3=Limpar   F12=Sair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8394904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554029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 err="1"/>
              <a:t>Variáveis</a:t>
            </a:r>
            <a:r>
              <a:rPr dirty="0"/>
              <a:t> que </a:t>
            </a:r>
            <a:r>
              <a:rPr dirty="0" err="1"/>
              <a:t>alimentam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campos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89920" cy="4389120"/>
          </a:xfrm>
          <a:prstGeom prst="roundRect">
            <a:avLst/>
          </a:prstGeom>
          <a:solidFill>
            <a:srgbClr val="F5F5F5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536192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latin typeface="Courier New"/>
              </a:defRPr>
            </a:pPr>
            <a:r>
              <a:t>DEFINE DATA LOCAL</a:t>
            </a:r>
            <a:br/>
            <a:r>
              <a:t>1 #CODIGO  (N6)</a:t>
            </a:r>
            <a:br/>
            <a:r>
              <a:t>1 #NOME    (A40)</a:t>
            </a:r>
            <a:br/>
            <a:r>
              <a:t>1 #CIDADE  (A30)</a:t>
            </a:r>
            <a:br/>
            <a:r>
              <a:t>1 #UF      (A2)</a:t>
            </a:r>
            <a:br/>
            <a:r>
              <a:t>END-DEFINE</a:t>
            </a:r>
            <a:br/>
            <a:br/>
            <a:r>
              <a:t>* Os campos do MAP podem estar associados</a:t>
            </a:r>
            <a:br/>
            <a:r>
              <a:t>* a essas variáveis do programa.</a:t>
            </a:r>
            <a:br/>
            <a:br/>
            <a:r>
              <a:t>INPUT USING MAP 'MPCADCLI'</a:t>
            </a:r>
            <a:br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7885020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540404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Boas </a:t>
            </a:r>
            <a:r>
              <a:rPr dirty="0" err="1"/>
              <a:t>práticas</a:t>
            </a:r>
            <a:r>
              <a:rPr dirty="0"/>
              <a:t> para </a:t>
            </a:r>
            <a:r>
              <a:rPr dirty="0" err="1"/>
              <a:t>criação</a:t>
            </a:r>
            <a:r>
              <a:rPr dirty="0"/>
              <a:t> de </a:t>
            </a:r>
            <a:r>
              <a:rPr dirty="0" err="1"/>
              <a:t>telas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Use nomes de campos e variáveis padronizados.</a:t>
            </a:r>
          </a:p>
          <a:p>
            <a:pPr>
              <a:spcAft>
                <a:spcPts val="1000"/>
              </a:spcAft>
              <a:defRPr sz="1900"/>
            </a:pPr>
            <a:r>
              <a:t>Separe apresentação, validação e acesso ao banco sempre que possível.</a:t>
            </a:r>
          </a:p>
          <a:p>
            <a:pPr>
              <a:spcAft>
                <a:spcPts val="1000"/>
              </a:spcAft>
              <a:defRPr sz="1900"/>
            </a:pPr>
            <a:r>
              <a:t>Informe claramente campos obrigatórios e formatos esperados.</a:t>
            </a:r>
          </a:p>
          <a:p>
            <a:pPr>
              <a:spcAft>
                <a:spcPts val="1000"/>
              </a:spcAft>
              <a:defRPr sz="1900"/>
            </a:pPr>
            <a:r>
              <a:t>Evite excesso de informação em uma única tela.</a:t>
            </a:r>
          </a:p>
          <a:p>
            <a:pPr>
              <a:spcAft>
                <a:spcPts val="1000"/>
              </a:spcAft>
              <a:defRPr sz="1900"/>
            </a:pPr>
            <a:r>
              <a:t>Padronize mensagens de erro e teclas de função.</a:t>
            </a:r>
          </a:p>
          <a:p>
            <a:pPr>
              <a:spcAft>
                <a:spcPts val="1000"/>
              </a:spcAft>
              <a:defRPr sz="1900"/>
            </a:pPr>
            <a:r>
              <a:t>Teste entradas válidas, inválidas, vazias e limites de tamanho.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2922478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sz="3600" dirty="0" err="1"/>
              <a:t>Erros</a:t>
            </a:r>
            <a:r>
              <a:rPr sz="3600" dirty="0"/>
              <a:t> </a:t>
            </a:r>
            <a:r>
              <a:rPr sz="3600" dirty="0" err="1"/>
              <a:t>comuns</a:t>
            </a:r>
            <a:endParaRPr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/>
            </a:pPr>
            <a:r>
              <a:t>Editar o programa pensando que o MAP está dentro dele.</a:t>
            </a:r>
          </a:p>
          <a:p>
            <a:pPr>
              <a:spcAft>
                <a:spcPts val="800"/>
              </a:spcAft>
              <a:defRPr sz="2000"/>
            </a:pPr>
            <a:r>
              <a:t>Esquecer de gerar o mapa após alterações.</a:t>
            </a:r>
          </a:p>
          <a:p>
            <a:pPr>
              <a:spcAft>
                <a:spcPts val="800"/>
              </a:spcAft>
              <a:defRPr sz="2000"/>
            </a:pPr>
            <a:r>
              <a:t>Usar tamanho/formato de campo incompatível.</a:t>
            </a:r>
          </a:p>
          <a:p>
            <a:pPr>
              <a:spcAft>
                <a:spcPts val="800"/>
              </a:spcAft>
              <a:defRPr sz="2000"/>
            </a:pPr>
            <a:r>
              <a:t>Salvar o objeto na biblioteca errada.</a:t>
            </a:r>
          </a:p>
          <a:p>
            <a:pPr>
              <a:spcAft>
                <a:spcPts val="800"/>
              </a:spcAft>
              <a:defRPr sz="2000"/>
            </a:pPr>
            <a:r>
              <a:t>Assumir teclas/opções sem considerar a versão do Natural.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408208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 err="1"/>
              <a:t>Fluxo</a:t>
            </a:r>
            <a:r>
              <a:rPr dirty="0"/>
              <a:t> de </a:t>
            </a:r>
            <a:r>
              <a:rPr dirty="0" err="1"/>
              <a:t>desenvolvimento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3239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rPr dirty="0"/>
              <a:t>1. </a:t>
            </a:r>
            <a:r>
              <a:rPr dirty="0" err="1"/>
              <a:t>Criar</a:t>
            </a:r>
            <a:r>
              <a:rPr dirty="0"/>
              <a:t> MAP no Map Editor.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2. </a:t>
            </a:r>
            <a:r>
              <a:rPr dirty="0" err="1"/>
              <a:t>Salvar</a:t>
            </a:r>
            <a:r>
              <a:rPr dirty="0"/>
              <a:t>/</a:t>
            </a:r>
            <a:r>
              <a:rPr dirty="0" err="1"/>
              <a:t>gerar</a:t>
            </a:r>
            <a:r>
              <a:rPr dirty="0"/>
              <a:t> MAP.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3. </a:t>
            </a:r>
            <a:r>
              <a:rPr dirty="0" err="1"/>
              <a:t>Criar</a:t>
            </a:r>
            <a:r>
              <a:rPr dirty="0"/>
              <a:t> PROGRAM.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4. </a:t>
            </a:r>
            <a:r>
              <a:rPr dirty="0" err="1"/>
              <a:t>Referenciar</a:t>
            </a:r>
            <a:r>
              <a:rPr dirty="0"/>
              <a:t> o MAP.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5. CHECK.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6. STOW.</a:t>
            </a:r>
            <a:endParaRPr lang="pt-BR" dirty="0"/>
          </a:p>
          <a:p>
            <a:pPr>
              <a:spcAft>
                <a:spcPts val="900"/>
              </a:spcAft>
              <a:defRPr sz="1900"/>
            </a:pPr>
            <a:r>
              <a:rPr lang="pt-BR" dirty="0"/>
              <a:t>7. Acessar </a:t>
            </a:r>
            <a:r>
              <a:rPr lang="pt-BR" dirty="0" err="1"/>
              <a:t>Adabas</a:t>
            </a:r>
            <a:r>
              <a:rPr lang="pt-BR" dirty="0"/>
              <a:t>.</a:t>
            </a:r>
            <a:endParaRPr dirty="0"/>
          </a:p>
          <a:p>
            <a:pPr>
              <a:spcAft>
                <a:spcPts val="900"/>
              </a:spcAft>
              <a:defRPr sz="1900"/>
            </a:pPr>
            <a:r>
              <a:rPr lang="pt-BR" dirty="0"/>
              <a:t>8</a:t>
            </a:r>
            <a:r>
              <a:rPr dirty="0"/>
              <a:t>. RUN.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5786312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872232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Natural + </a:t>
            </a:r>
            <a:r>
              <a:rPr dirty="0" err="1"/>
              <a:t>Adabas</a:t>
            </a:r>
            <a:r>
              <a:rPr dirty="0"/>
              <a:t> —  </a:t>
            </a:r>
            <a:r>
              <a:rPr dirty="0" err="1"/>
              <a:t>Compilação</a:t>
            </a:r>
            <a:r>
              <a:rPr dirty="0"/>
              <a:t> do </a:t>
            </a:r>
            <a:r>
              <a:rPr lang="pt-BR" dirty="0"/>
              <a:t>Programa e do Mapa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rPr lang="pt-BR" dirty="0"/>
              <a:t>Aula prática: MAP, PROGRAM, CHECK, SAVE, STOW e RUN.</a:t>
            </a:r>
          </a:p>
          <a:p>
            <a:pPr>
              <a:spcAft>
                <a:spcPts val="900"/>
              </a:spcAft>
              <a:defRPr sz="1900"/>
            </a:pPr>
            <a:r>
              <a:rPr lang="pt-BR" dirty="0"/>
              <a:t>Exemplo completo de uma tela de cadastro/consulta.</a:t>
            </a:r>
          </a:p>
          <a:p>
            <a:pPr>
              <a:spcAft>
                <a:spcPts val="900"/>
              </a:spcAft>
              <a:defRPr sz="1900"/>
            </a:pPr>
            <a:endParaRPr lang="pt-BR" dirty="0"/>
          </a:p>
          <a:p>
            <a:pPr>
              <a:spcAft>
                <a:spcPts val="900"/>
              </a:spcAft>
              <a:defRPr sz="1900"/>
            </a:pPr>
            <a:r>
              <a:rPr dirty="0"/>
              <a:t>Aula </a:t>
            </a:r>
            <a:r>
              <a:rPr dirty="0" err="1"/>
              <a:t>prática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MAP, PROGRAM e </a:t>
            </a:r>
            <a:r>
              <a:rPr dirty="0" err="1"/>
              <a:t>acesso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Adabas</a:t>
            </a:r>
            <a:r>
              <a:rPr dirty="0"/>
              <a:t>.</a:t>
            </a:r>
          </a:p>
          <a:p>
            <a:pPr>
              <a:spcAft>
                <a:spcPts val="900"/>
              </a:spcAft>
              <a:defRPr sz="1900"/>
            </a:pPr>
            <a:r>
              <a:rPr dirty="0" err="1"/>
              <a:t>Ênfase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sequência</a:t>
            </a:r>
            <a:r>
              <a:rPr dirty="0"/>
              <a:t> </a:t>
            </a:r>
            <a:r>
              <a:rPr dirty="0" err="1"/>
              <a:t>correta</a:t>
            </a:r>
            <a:r>
              <a:rPr dirty="0"/>
              <a:t>: SAVE → GENERATE no MAP e CHECK → STOW no PROGRAM.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055031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295786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SAVE x GENERATE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7452" y="1325880"/>
            <a:ext cx="10698480" cy="3647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rPr dirty="0"/>
              <a:t>SAVE = </a:t>
            </a:r>
            <a:r>
              <a:rPr dirty="0" err="1"/>
              <a:t>grava</a:t>
            </a:r>
            <a:r>
              <a:rPr dirty="0"/>
              <a:t> a </a:t>
            </a:r>
            <a:r>
              <a:rPr dirty="0" err="1"/>
              <a:t>definição</a:t>
            </a:r>
            <a:r>
              <a:rPr dirty="0"/>
              <a:t> do MAP.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GENERATE = </a:t>
            </a:r>
            <a:r>
              <a:rPr dirty="0" err="1"/>
              <a:t>gera</a:t>
            </a:r>
            <a:r>
              <a:rPr dirty="0"/>
              <a:t> o MAP para </a:t>
            </a:r>
            <a:r>
              <a:rPr dirty="0" err="1"/>
              <a:t>utilização</a:t>
            </a:r>
            <a:r>
              <a:rPr dirty="0"/>
              <a:t> pela </a:t>
            </a:r>
            <a:r>
              <a:rPr dirty="0" err="1"/>
              <a:t>aplicação</a:t>
            </a:r>
            <a:r>
              <a:rPr dirty="0"/>
              <a:t>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São </a:t>
            </a:r>
            <a:r>
              <a:rPr dirty="0" err="1"/>
              <a:t>conceitos</a:t>
            </a:r>
            <a:r>
              <a:rPr dirty="0"/>
              <a:t> </a:t>
            </a:r>
            <a:r>
              <a:rPr dirty="0" err="1"/>
              <a:t>diferentes</a:t>
            </a:r>
            <a:r>
              <a:rPr dirty="0"/>
              <a:t> e </a:t>
            </a:r>
            <a:r>
              <a:rPr dirty="0" err="1"/>
              <a:t>devem</a:t>
            </a:r>
            <a:r>
              <a:rPr dirty="0"/>
              <a:t> </a:t>
            </a:r>
            <a:r>
              <a:rPr dirty="0" err="1"/>
              <a:t>aparecer</a:t>
            </a:r>
            <a:r>
              <a:rPr dirty="0"/>
              <a:t> </a:t>
            </a:r>
            <a:r>
              <a:rPr dirty="0" err="1"/>
              <a:t>separadamente</a:t>
            </a:r>
            <a:r>
              <a:rPr dirty="0"/>
              <a:t> </a:t>
            </a:r>
            <a:r>
              <a:rPr dirty="0" err="1"/>
              <a:t>na</a:t>
            </a:r>
            <a:r>
              <a:rPr dirty="0"/>
              <a:t> aula.</a:t>
            </a:r>
          </a:p>
          <a:p>
            <a:pPr>
              <a:spcAft>
                <a:spcPts val="900"/>
              </a:spcAft>
              <a:defRPr sz="1900"/>
            </a:pPr>
            <a:r>
              <a:rPr dirty="0"/>
              <a:t>A </a:t>
            </a:r>
            <a:r>
              <a:rPr dirty="0" err="1"/>
              <a:t>nomenclatura</a:t>
            </a:r>
            <a:r>
              <a:rPr dirty="0"/>
              <a:t> </a:t>
            </a:r>
            <a:r>
              <a:rPr dirty="0" err="1"/>
              <a:t>exata</a:t>
            </a:r>
            <a:r>
              <a:rPr dirty="0"/>
              <a:t> das </a:t>
            </a:r>
            <a:r>
              <a:rPr dirty="0" err="1"/>
              <a:t>opções</a:t>
            </a:r>
            <a:r>
              <a:rPr dirty="0"/>
              <a:t> </a:t>
            </a:r>
            <a:r>
              <a:rPr dirty="0" err="1"/>
              <a:t>pode</a:t>
            </a:r>
            <a:r>
              <a:rPr dirty="0"/>
              <a:t> </a:t>
            </a:r>
            <a:r>
              <a:rPr dirty="0" err="1"/>
              <a:t>variar</a:t>
            </a:r>
            <a:r>
              <a:rPr dirty="0"/>
              <a:t> </a:t>
            </a:r>
            <a:r>
              <a:rPr dirty="0" err="1"/>
              <a:t>conforme</a:t>
            </a:r>
            <a:r>
              <a:rPr dirty="0"/>
              <a:t> a </a:t>
            </a:r>
            <a:r>
              <a:rPr dirty="0" err="1"/>
              <a:t>versão</a:t>
            </a:r>
            <a:r>
              <a:rPr dirty="0"/>
              <a:t>/</a:t>
            </a:r>
            <a:r>
              <a:rPr dirty="0" err="1"/>
              <a:t>ambiente</a:t>
            </a:r>
            <a:r>
              <a:rPr dirty="0"/>
              <a:t> Natural.</a:t>
            </a:r>
            <a:endParaRPr lang="pt-BR" dirty="0"/>
          </a:p>
          <a:p>
            <a:pPr>
              <a:spcAft>
                <a:spcPts val="900"/>
              </a:spcAft>
              <a:defRPr sz="1900"/>
            </a:pPr>
            <a:endParaRPr lang="pt-BR" dirty="0"/>
          </a:p>
          <a:p>
            <a:pPr>
              <a:spcAft>
                <a:spcPts val="900"/>
              </a:spcAft>
              <a:defRPr sz="1900"/>
            </a:pPr>
            <a:r>
              <a:rPr lang="pt-BR" dirty="0"/>
              <a:t>No Map Editor, utilize a função/opção GENERATE disponível no seu ambiente.</a:t>
            </a:r>
          </a:p>
          <a:p>
            <a:pPr>
              <a:spcAft>
                <a:spcPts val="900"/>
              </a:spcAft>
              <a:defRPr sz="1900"/>
            </a:pPr>
            <a:r>
              <a:rPr lang="pt-BR" dirty="0"/>
              <a:t>A geração transforma a definição do MAP no objeto/estrutura necessária para utilização pela aplicação.</a:t>
            </a:r>
          </a:p>
          <a:p>
            <a:pPr>
              <a:spcAft>
                <a:spcPts val="900"/>
              </a:spcAft>
              <a:defRPr sz="1900"/>
            </a:pPr>
            <a:r>
              <a:rPr lang="pt-BR" dirty="0"/>
              <a:t>Depois da geração, o programa Natural pode referenciar o MAP.</a:t>
            </a:r>
          </a:p>
          <a:p>
            <a:pPr>
              <a:spcAft>
                <a:spcPts val="900"/>
              </a:spcAft>
              <a:defRPr sz="1900"/>
            </a:pP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12417452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335322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 err="1"/>
              <a:t>Objetos</a:t>
            </a:r>
            <a:r>
              <a:rPr dirty="0"/>
              <a:t> da </a:t>
            </a:r>
            <a:r>
              <a:rPr dirty="0" err="1"/>
              <a:t>aplicação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MAP — objeto separado que define a tela.</a:t>
            </a:r>
          </a:p>
          <a:p>
            <a:pPr>
              <a:spcAft>
                <a:spcPts val="900"/>
              </a:spcAft>
              <a:defRPr sz="1900"/>
            </a:pPr>
            <a:r>
              <a:t>PROGRAM — objeto separado que contém a lógica.</a:t>
            </a:r>
          </a:p>
          <a:p>
            <a:pPr>
              <a:spcAft>
                <a:spcPts val="900"/>
              </a:spcAft>
              <a:defRPr sz="1900"/>
            </a:pPr>
            <a:r>
              <a:t>DDM — descrição lógica dos dados Adabas.</a:t>
            </a:r>
          </a:p>
          <a:p>
            <a:pPr>
              <a:spcAft>
                <a:spcPts val="900"/>
              </a:spcAft>
              <a:defRPr sz="1900"/>
            </a:pPr>
            <a:r>
              <a:t>ADABAS — banco de dados.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78951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 err="1"/>
              <a:t>Exemplo</a:t>
            </a:r>
            <a:r>
              <a:rPr dirty="0"/>
              <a:t> de MAP — MPCADCLI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480560"/>
          </a:xfrm>
          <a:prstGeom prst="round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102412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urier New"/>
              </a:defRPr>
            </a:pPr>
            <a:r>
              <a:t>              CADASTRO DE CLIENTE</a:t>
            </a:r>
            <a:br/>
            <a:br/>
            <a:r>
              <a:t>Código:  ________</a:t>
            </a:r>
            <a:br/>
            <a:r>
              <a:t>Nome:    ______________________________</a:t>
            </a:r>
            <a:br/>
            <a:r>
              <a:t>Cidade:  ______________________</a:t>
            </a:r>
            <a:br/>
            <a:r>
              <a:t>UF:      __</a:t>
            </a:r>
            <a:br/>
            <a:br/>
            <a:r>
              <a:t>F1=Incluir   F2=Consultar   F3=Limpar   F12=Sair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8134027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609416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GENERATE do MAP — </a:t>
            </a:r>
            <a:r>
              <a:rPr dirty="0" err="1"/>
              <a:t>etapa</a:t>
            </a:r>
            <a:r>
              <a:rPr dirty="0"/>
              <a:t> que </a:t>
            </a:r>
            <a:r>
              <a:rPr dirty="0" err="1"/>
              <a:t>faltava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480560"/>
          </a:xfrm>
          <a:prstGeom prst="round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102412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urier New"/>
              </a:defRPr>
            </a:pPr>
            <a:r>
              <a:rPr dirty="0"/>
              <a:t>GENERATE</a:t>
            </a:r>
            <a:br>
              <a:rPr dirty="0"/>
            </a:br>
            <a:br>
              <a:rPr dirty="0"/>
            </a:br>
            <a:r>
              <a:rPr dirty="0"/>
              <a:t>MAP: MPCADCLI</a:t>
            </a:r>
            <a:br>
              <a:rPr dirty="0"/>
            </a:br>
            <a:br>
              <a:rPr dirty="0"/>
            </a:br>
            <a:r>
              <a:rPr dirty="0" err="1"/>
              <a:t>Resultado</a:t>
            </a:r>
            <a:r>
              <a:rPr dirty="0"/>
              <a:t>:</a:t>
            </a:r>
            <a:br>
              <a:rPr dirty="0"/>
            </a:br>
            <a:r>
              <a:rPr dirty="0"/>
              <a:t>MAP </a:t>
            </a:r>
            <a:r>
              <a:rPr dirty="0" err="1"/>
              <a:t>gerado</a:t>
            </a:r>
            <a:r>
              <a:rPr dirty="0"/>
              <a:t> para </a:t>
            </a:r>
            <a:r>
              <a:rPr dirty="0" err="1"/>
              <a:t>utilização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</a:t>
            </a:r>
            <a:r>
              <a:rPr dirty="0" err="1"/>
              <a:t>programa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06026103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47167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 err="1"/>
              <a:t>Programa</a:t>
            </a:r>
            <a:r>
              <a:rPr dirty="0"/>
              <a:t> Natural — CADCLI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480560"/>
          </a:xfrm>
          <a:prstGeom prst="round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102412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urier New"/>
              </a:defRPr>
            </a:pPr>
            <a:r>
              <a:t>DEFINE DATA LOCAL</a:t>
            </a:r>
            <a:br/>
            <a:r>
              <a:t>1 #CODIGO (N6)</a:t>
            </a:r>
            <a:br/>
            <a:r>
              <a:t>1 #NOME   (A40)</a:t>
            </a:r>
            <a:br/>
            <a:r>
              <a:t>1 #CIDADE (A30)</a:t>
            </a:r>
            <a:br/>
            <a:r>
              <a:t>1 #UF     (A2)</a:t>
            </a:r>
            <a:br/>
            <a:r>
              <a:t>END-DEFINE</a:t>
            </a:r>
            <a:br/>
            <a:br/>
            <a:r>
              <a:t>INPUT USING MAP 'MPCADCLI'</a:t>
            </a:r>
            <a:br/>
            <a:br/>
            <a:r>
              <a:t>WRITE #CODIGO #NOME #CIDADE #UF</a:t>
            </a:r>
            <a:br/>
            <a:br/>
            <a: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915711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15355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CHECK do </a:t>
            </a:r>
            <a:r>
              <a:rPr dirty="0" err="1"/>
              <a:t>programa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594360" y="1181686"/>
            <a:ext cx="10698480" cy="4480560"/>
          </a:xfrm>
          <a:prstGeom prst="round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90600" y="1554480"/>
            <a:ext cx="102412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urier New"/>
              </a:defRPr>
            </a:pPr>
            <a:r>
              <a:rPr dirty="0"/>
              <a:t>CHECK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34145115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07718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STOW do </a:t>
            </a:r>
            <a:r>
              <a:rPr dirty="0" err="1"/>
              <a:t>programa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480560"/>
          </a:xfrm>
          <a:prstGeom prst="round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102412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urier New"/>
              </a:defRPr>
            </a:pPr>
            <a:r>
              <a:t>STOW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2917092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731520" y="320040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rPr lang="pt-BR" sz="2800" b="1" dirty="0"/>
              <a:t>RUN</a:t>
            </a:r>
            <a:endParaRPr sz="2800" b="1" dirty="0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4480560"/>
          </a:xfrm>
          <a:prstGeom prst="round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600200"/>
            <a:ext cx="102412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urier New"/>
              </a:defRPr>
            </a:pPr>
            <a:r>
              <a:t>RUN CADCLI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3407393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Fluxo de desenvolvimento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1. Criar MAP no Map Editor.</a:t>
            </a:r>
          </a:p>
          <a:p>
            <a:pPr>
              <a:spcAft>
                <a:spcPts val="900"/>
              </a:spcAft>
              <a:defRPr sz="1900"/>
            </a:pPr>
            <a:r>
              <a:t>2. Salvar/gerar MAP.</a:t>
            </a:r>
          </a:p>
          <a:p>
            <a:pPr>
              <a:spcAft>
                <a:spcPts val="900"/>
              </a:spcAft>
              <a:defRPr sz="1900"/>
            </a:pPr>
            <a:r>
              <a:t>3. Criar PROGRAM.</a:t>
            </a:r>
          </a:p>
          <a:p>
            <a:pPr>
              <a:spcAft>
                <a:spcPts val="900"/>
              </a:spcAft>
              <a:defRPr sz="1900"/>
            </a:pPr>
            <a:r>
              <a:t>4. Referenciar o MAP.</a:t>
            </a:r>
          </a:p>
          <a:p>
            <a:pPr>
              <a:spcAft>
                <a:spcPts val="900"/>
              </a:spcAft>
              <a:defRPr sz="1900"/>
            </a:pPr>
            <a:r>
              <a:t>5. CHECK.</a:t>
            </a:r>
          </a:p>
          <a:p>
            <a:pPr>
              <a:spcAft>
                <a:spcPts val="900"/>
              </a:spcAft>
              <a:defRPr sz="1900"/>
            </a:pPr>
            <a:r>
              <a:t>6. STOW.</a:t>
            </a:r>
          </a:p>
          <a:p>
            <a:pPr>
              <a:spcAft>
                <a:spcPts val="900"/>
              </a:spcAft>
              <a:defRPr sz="1900"/>
            </a:pPr>
            <a:r>
              <a:t>7. RUN.</a:t>
            </a:r>
          </a:p>
          <a:p>
            <a:pPr>
              <a:spcAft>
                <a:spcPts val="900"/>
              </a:spcAft>
              <a:defRPr sz="1900"/>
            </a:pPr>
            <a:r>
              <a:t>8. Acessar Adabas.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18699385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02845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 err="1"/>
              <a:t>Objetos</a:t>
            </a:r>
            <a:r>
              <a:rPr dirty="0"/>
              <a:t> </a:t>
            </a:r>
            <a:r>
              <a:rPr dirty="0" err="1"/>
              <a:t>envolvidos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MAP: objeto separado que define a apresentação da tela.</a:t>
            </a:r>
          </a:p>
          <a:p>
            <a:pPr>
              <a:spcAft>
                <a:spcPts val="900"/>
              </a:spcAft>
              <a:defRPr sz="1900"/>
            </a:pPr>
            <a:r>
              <a:t>PROGRAM: objeto separado que contém a lógica.</a:t>
            </a:r>
          </a:p>
          <a:p>
            <a:pPr>
              <a:spcAft>
                <a:spcPts val="900"/>
              </a:spcAft>
              <a:defRPr sz="1900"/>
            </a:pPr>
            <a:r>
              <a:t>DDM: descrição dos dados utilizados pelo Natural.</a:t>
            </a:r>
          </a:p>
          <a:p>
            <a:pPr>
              <a:spcAft>
                <a:spcPts val="900"/>
              </a:spcAft>
              <a:defRPr sz="1900"/>
            </a:pPr>
            <a:r>
              <a:t>Adabas: banco de dados.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481151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/>
              <a:t>MAP </a:t>
            </a:r>
            <a:r>
              <a:rPr dirty="0" err="1"/>
              <a:t>chamado</a:t>
            </a:r>
            <a:r>
              <a:rPr dirty="0"/>
              <a:t> </a:t>
            </a:r>
            <a:r>
              <a:rPr dirty="0" err="1"/>
              <a:t>pelo</a:t>
            </a:r>
            <a:r>
              <a:rPr dirty="0"/>
              <a:t> </a:t>
            </a:r>
            <a:r>
              <a:rPr dirty="0" err="1"/>
              <a:t>programa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480560"/>
          </a:xfrm>
          <a:prstGeom prst="round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102412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urier New"/>
              </a:defRPr>
            </a:pPr>
            <a:r>
              <a:t>INPUT USING MAP 'MPCADCLI'</a:t>
            </a:r>
            <a:br/>
            <a:br/>
            <a:r>
              <a:t>* MPCADCLI é um objeto separado.</a:t>
            </a:r>
            <a:br/>
            <a:r>
              <a:t>* O programa utiliza o MAP durante a execução.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12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284725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 err="1"/>
              <a:t>Acesso</a:t>
            </a:r>
            <a:r>
              <a:rPr dirty="0"/>
              <a:t>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Adabas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480560"/>
          </a:xfrm>
          <a:prstGeom prst="round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600200"/>
            <a:ext cx="102412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urier New"/>
              </a:defRPr>
            </a:pPr>
            <a:r>
              <a:t>FIND CLIENTE WITH CODIGO = #CODIGO</a:t>
            </a:r>
            <a:br/>
            <a:r>
              <a:t>  DISPLAY CODIGO NOME CIDADE UF</a:t>
            </a:r>
            <a:br/>
            <a:r>
              <a:t>END-FIND</a:t>
            </a:r>
            <a:br/>
            <a:br/>
            <a:r>
              <a:t>STORE RECORD IN CLIENTE</a:t>
            </a:r>
            <a:br/>
            <a:r>
              <a:t>END-STORE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13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622189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 err="1"/>
              <a:t>Laboratório</a:t>
            </a:r>
            <a:r>
              <a:rPr dirty="0"/>
              <a:t> — </a:t>
            </a:r>
            <a:r>
              <a:rPr dirty="0" err="1"/>
              <a:t>sequência</a:t>
            </a:r>
            <a:r>
              <a:rPr dirty="0"/>
              <a:t> </a:t>
            </a:r>
            <a:r>
              <a:rPr dirty="0" err="1"/>
              <a:t>recomendada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1. Criar MPCADCLI.</a:t>
            </a:r>
          </a:p>
          <a:p>
            <a:pPr>
              <a:spcAft>
                <a:spcPts val="900"/>
              </a:spcAft>
              <a:defRPr sz="1900"/>
            </a:pPr>
            <a:r>
              <a:t>2. Editar campos da tela.</a:t>
            </a:r>
          </a:p>
          <a:p>
            <a:pPr>
              <a:spcAft>
                <a:spcPts val="900"/>
              </a:spcAft>
              <a:defRPr sz="1900"/>
            </a:pPr>
            <a:r>
              <a:t>3. SAVE.</a:t>
            </a:r>
          </a:p>
          <a:p>
            <a:pPr>
              <a:spcAft>
                <a:spcPts val="900"/>
              </a:spcAft>
              <a:defRPr sz="1900"/>
            </a:pPr>
            <a:r>
              <a:t>4. GENERATE.</a:t>
            </a:r>
          </a:p>
          <a:p>
            <a:pPr>
              <a:spcAft>
                <a:spcPts val="900"/>
              </a:spcAft>
              <a:defRPr sz="1900"/>
            </a:pPr>
            <a:r>
              <a:t>5. Criar CADCLI.</a:t>
            </a:r>
          </a:p>
          <a:p>
            <a:pPr>
              <a:spcAft>
                <a:spcPts val="900"/>
              </a:spcAft>
              <a:defRPr sz="1900"/>
            </a:pPr>
            <a:r>
              <a:t>6. CHECK.</a:t>
            </a:r>
          </a:p>
          <a:p>
            <a:pPr>
              <a:spcAft>
                <a:spcPts val="900"/>
              </a:spcAft>
              <a:defRPr sz="1900"/>
            </a:pPr>
            <a:r>
              <a:t>7. STOW.</a:t>
            </a:r>
          </a:p>
          <a:p>
            <a:pPr>
              <a:spcAft>
                <a:spcPts val="900"/>
              </a:spcAft>
              <a:defRPr sz="1900"/>
            </a:pPr>
            <a:r>
              <a:t>8. RUN CADCLI.</a:t>
            </a:r>
          </a:p>
          <a:p>
            <a:pPr>
              <a:spcAft>
                <a:spcPts val="900"/>
              </a:spcAft>
              <a:defRPr sz="1900"/>
            </a:pPr>
            <a:r>
              <a:t>9. Testar a entrada.</a:t>
            </a:r>
          </a:p>
          <a:p>
            <a:pPr>
              <a:spcAft>
                <a:spcPts val="900"/>
              </a:spcAft>
              <a:defRPr sz="1900"/>
            </a:pPr>
            <a:r>
              <a:t>10. Consultar/gravar no Adabas.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336181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 err="1"/>
              <a:t>Comandos</a:t>
            </a:r>
            <a:r>
              <a:rPr dirty="0"/>
              <a:t> </a:t>
            </a:r>
            <a:r>
              <a:rPr dirty="0" err="1"/>
              <a:t>principais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/>
            </a:pPr>
            <a:r>
              <a:t>MAP: SAVE → GENERATE.</a:t>
            </a:r>
          </a:p>
          <a:p>
            <a:pPr>
              <a:spcAft>
                <a:spcPts val="900"/>
              </a:spcAft>
              <a:defRPr sz="1900"/>
            </a:pPr>
            <a:r>
              <a:t>PROGRAM: CHECK → STOW → RUN.</a:t>
            </a:r>
          </a:p>
          <a:p>
            <a:pPr>
              <a:spcAft>
                <a:spcPts val="900"/>
              </a:spcAft>
              <a:defRPr sz="1900"/>
            </a:pPr>
            <a:r>
              <a:t>Tela: INPUT USING MAP.</a:t>
            </a:r>
          </a:p>
          <a:p>
            <a:pPr>
              <a:spcAft>
                <a:spcPts val="900"/>
              </a:spcAft>
              <a:defRPr sz="1900"/>
            </a:pPr>
            <a:r>
              <a:t>Adabas: FIND, READ, STORE, UPDATE, DELETE.</a:t>
            </a:r>
          </a:p>
          <a:p>
            <a:pPr>
              <a:spcAft>
                <a:spcPts val="900"/>
              </a:spcAft>
              <a:defRPr sz="1900"/>
            </a:pPr>
            <a:r>
              <a:t>Sempre diferenciar a manutenção do MAP da compilação/geração do PROGRAM.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/>
            </a:pPr>
            <a:r>
              <a:t>Exemplo de consulta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107899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FIND CLIENTE WITH CPF = '12345678900'</a:t>
            </a:r>
          </a:p>
          <a:p>
            <a:pPr>
              <a:spcAft>
                <a:spcPts val="1000"/>
              </a:spcAft>
              <a:defRPr sz="2200"/>
            </a:pPr>
            <a:r>
              <a:t>DISPLAY NOME</a:t>
            </a:r>
          </a:p>
          <a:p>
            <a:pPr>
              <a:spcAft>
                <a:spcPts val="1000"/>
              </a:spcAft>
              <a:defRPr sz="2200"/>
            </a:pPr>
            <a:r>
              <a:t>        CPF</a:t>
            </a:r>
          </a:p>
          <a:p>
            <a:pPr>
              <a:spcAft>
                <a:spcPts val="1000"/>
              </a:spcAft>
              <a:defRPr sz="2200"/>
            </a:pPr>
            <a:r>
              <a:t>        DATA-NASCIMENTO</a:t>
            </a:r>
          </a:p>
          <a:p>
            <a:pPr>
              <a:spcAft>
                <a:spcPts val="1000"/>
              </a:spcAft>
              <a:defRPr sz="2200"/>
            </a:pPr>
            <a:r>
              <a:t>END-FIND</a:t>
            </a:r>
          </a:p>
        </p:txBody>
      </p:sp>
    </p:spTree>
    <p:extLst>
      <p:ext uri="{BB962C8B-B14F-4D97-AF65-F5344CB8AC3E}">
        <p14:creationId xmlns:p14="http://schemas.microsoft.com/office/powerpoint/2010/main" val="20390574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Natural + Adabas — Aula: Criação de Telas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Do conceito de Map até a execução de uma tela de cadastro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200"/>
            </a:pPr>
            <a:r>
              <a:t>Objetivo: entender como uma aplicação Natural apresenta, recebe e valida dados.</a:t>
            </a:r>
          </a:p>
          <a:p>
            <a:pPr>
              <a:spcAft>
                <a:spcPts val="1000"/>
              </a:spcAft>
              <a:defRPr sz="2200"/>
            </a:pPr>
            <a:r>
              <a:t>Criar uma tela simples de cadastro/consulta.</a:t>
            </a:r>
          </a:p>
          <a:p>
            <a:pPr>
              <a:spcAft>
                <a:spcPts val="1000"/>
              </a:spcAft>
              <a:defRPr sz="2200"/>
            </a:pPr>
            <a:r>
              <a:t>Relacionar a tela com variáveis Natural e, posteriormente, com dados Adabas.</a:t>
            </a:r>
          </a:p>
          <a:p>
            <a:pPr>
              <a:spcAft>
                <a:spcPts val="1000"/>
              </a:spcAft>
              <a:defRPr sz="2200"/>
            </a:pPr>
            <a:r>
              <a:t>Prática: montar um pequeno fluxo de inclusão e consulta.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Exemplo de programa Natural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89920" cy="4389120"/>
          </a:xfrm>
          <a:prstGeom prst="roundRect">
            <a:avLst/>
          </a:prstGeom>
          <a:solidFill>
            <a:srgbClr val="F5F5F5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536192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latin typeface="Courier New"/>
              </a:defRPr>
            </a:pPr>
            <a:r>
              <a:t>DEFINE DATA LOCAL</a:t>
            </a:r>
            <a:br/>
            <a:r>
              <a:t>1 #CODIGO  (N6)</a:t>
            </a:r>
            <a:br/>
            <a:r>
              <a:t>1 #NOME    (A40)</a:t>
            </a:r>
            <a:br/>
            <a:r>
              <a:t>1 #CIDADE  (A30)</a:t>
            </a:r>
            <a:br/>
            <a:r>
              <a:t>1 #UF      (A2)</a:t>
            </a:r>
            <a:br/>
            <a:r>
              <a:t>END-DEFINE</a:t>
            </a:r>
            <a:br/>
            <a:br/>
            <a:r>
              <a:t>REPEAT</a:t>
            </a:r>
            <a:br/>
            <a:r>
              <a:t>  INPUT USING MAP 'MPCADCLI'</a:t>
            </a:r>
            <a:br/>
            <a:br/>
            <a:r>
              <a:t>  IF #CODIGO = 0</a:t>
            </a:r>
            <a:br/>
            <a:r>
              <a:t>    WRITE 'Informe um código válido.'</a:t>
            </a:r>
            <a:br/>
            <a:r>
              <a:t>    ESCAPE TOP</a:t>
            </a:r>
            <a:br/>
            <a:r>
              <a:t>  END-IF</a:t>
            </a:r>
            <a:br/>
            <a:br/>
            <a:r>
              <a:t>  WRITE 'Dados recebidos: ' #CODIGO #NOME #CIDADE #UF</a:t>
            </a:r>
            <a:br/>
            <a:r>
              <a:t>END-REPEAT</a:t>
            </a:r>
            <a:br/>
            <a:r>
              <a:t>END</a:t>
            </a:r>
            <a:br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7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Ligando a tela ao Adabas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A tela não grava diretamente no banco: o programa Natural executa a lógica de acesso.</a:t>
            </a:r>
          </a:p>
          <a:p>
            <a:pPr>
              <a:spcAft>
                <a:spcPts val="1000"/>
              </a:spcAft>
              <a:defRPr sz="2000"/>
            </a:pPr>
            <a:r>
              <a:t>Para inclusão, o programa pode usar STORE.</a:t>
            </a:r>
          </a:p>
          <a:p>
            <a:pPr>
              <a:spcAft>
                <a:spcPts val="1000"/>
              </a:spcAft>
              <a:defRPr sz="2000"/>
            </a:pPr>
            <a:r>
              <a:t>Para consulta, pode usar FIND/READ, conforme o desenho da aplicação.</a:t>
            </a:r>
          </a:p>
          <a:p>
            <a:pPr>
              <a:spcAft>
                <a:spcPts val="1000"/>
              </a:spcAft>
              <a:defRPr sz="2000"/>
            </a:pPr>
            <a:r>
              <a:t>Os campos do MAP podem ser usados como critérios de pesquisa ou dados para gravação.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480560"/>
            <a:ext cx="10789920" cy="1234440"/>
          </a:xfrm>
          <a:prstGeom prst="roundRect">
            <a:avLst/>
          </a:prstGeom>
          <a:solidFill>
            <a:srgbClr val="F5F5F5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4645152"/>
            <a:ext cx="1033272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Courier New"/>
              </a:defRPr>
            </a:pPr>
            <a:r>
              <a:t>STORE RECORD IN VIEW CLIENTE</a:t>
            </a:r>
            <a:br/>
            <a:r>
              <a:t>  /* Exemplo conceitual: #CODIGO, #NOME, etc.</a:t>
            </a:r>
            <a:br/>
            <a:r>
              <a:t>     devem estar associados aos campos da DDM.</a:t>
            </a:r>
            <a:br/>
            <a:r>
              <a:t>  */</a:t>
            </a:r>
            <a:br/>
            <a:r>
              <a:t>END-STORE</a:t>
            </a:r>
            <a:br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8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330250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 err="1"/>
              <a:t>Validação</a:t>
            </a:r>
            <a:r>
              <a:rPr dirty="0"/>
              <a:t> de </a:t>
            </a:r>
            <a:r>
              <a:rPr dirty="0" err="1"/>
              <a:t>campos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89920" cy="4389120"/>
          </a:xfrm>
          <a:prstGeom prst="roundRect">
            <a:avLst/>
          </a:prstGeom>
          <a:solidFill>
            <a:srgbClr val="F5F5F5"/>
          </a:solidFill>
          <a:ln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536192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latin typeface="Courier New"/>
              </a:defRPr>
            </a:pPr>
            <a:r>
              <a:t>INPUT USING MAP 'MPCADCLI'</a:t>
            </a:r>
            <a:br/>
            <a:br/>
            <a:r>
              <a:t>IF #NOME = ' '</a:t>
            </a:r>
            <a:br/>
            <a:r>
              <a:t>  REINPUT 'Nome é obrigatório.'</a:t>
            </a:r>
            <a:br/>
            <a:r>
              <a:t>END-IF</a:t>
            </a:r>
            <a:br/>
            <a:br/>
            <a:r>
              <a:t>IF #UF NE 'SP' AND #UF NE 'RJ'</a:t>
            </a:r>
            <a:br/>
            <a:r>
              <a:t>  REINPUT 'UF inválida para este exemplo.'</a:t>
            </a:r>
            <a:br/>
            <a:r>
              <a:t>END-IF</a:t>
            </a:r>
            <a:br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9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454470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rPr dirty="0" err="1"/>
              <a:t>Teclas</a:t>
            </a:r>
            <a:r>
              <a:rPr dirty="0"/>
              <a:t> de </a:t>
            </a:r>
            <a:r>
              <a:rPr dirty="0" err="1"/>
              <a:t>função</a:t>
            </a:r>
            <a:r>
              <a:rPr dirty="0"/>
              <a:t> e </a:t>
            </a:r>
            <a:r>
              <a:rPr dirty="0" err="1"/>
              <a:t>navegação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F1, F2, F3 etc. podem ser tratados como ações da aplicação, conforme a configuração da tela e do ambiente.</a:t>
            </a:r>
          </a:p>
          <a:p>
            <a:pPr>
              <a:spcAft>
                <a:spcPts val="1000"/>
              </a:spcAft>
              <a:defRPr sz="2000"/>
            </a:pPr>
            <a:r>
              <a:t>Uma ação pode significar: incluir, consultar, alterar, limpar ou sair.</a:t>
            </a:r>
          </a:p>
          <a:p>
            <a:pPr>
              <a:spcAft>
                <a:spcPts val="1000"/>
              </a:spcAft>
              <a:defRPr sz="2000"/>
            </a:pPr>
            <a:r>
              <a:t>É importante manter uma legenda clara no rodapé da tela.</a:t>
            </a:r>
          </a:p>
          <a:p>
            <a:pPr>
              <a:spcAft>
                <a:spcPts val="1000"/>
              </a:spcAft>
              <a:defRPr sz="2000"/>
            </a:pPr>
            <a:r>
              <a:t>Em aplicações corporativas, padronizar teclas reduz erros e facilita o treinamento.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46520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/>
        </p:nvSpPr>
        <p:spPr>
          <a:xfrm>
            <a:off x="731520" y="1371600"/>
            <a:ext cx="10698480" cy="4480560"/>
          </a:xfrm>
          <a:prstGeom prst="roundRect">
            <a:avLst/>
          </a:prstGeom>
          <a:solidFill>
            <a:srgbClr val="F5F5F5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969413" y="2781887"/>
            <a:ext cx="2401619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latin typeface="Courier New"/>
              </a:defRPr>
            </a:pPr>
            <a:r>
              <a:rPr lang="pt-BR" sz="9600" b="1" dirty="0"/>
              <a:t>FIM</a:t>
            </a:r>
            <a:endParaRPr sz="96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7709508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1883</TotalTime>
  <Words>2958</Words>
  <Application>Microsoft Office PowerPoint</Application>
  <PresentationFormat>Widescreen</PresentationFormat>
  <Paragraphs>462</Paragraphs>
  <Slides>53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53</vt:i4>
      </vt:variant>
    </vt:vector>
  </HeadingPairs>
  <TitlesOfParts>
    <vt:vector size="57" baseType="lpstr">
      <vt:lpstr>Arial</vt:lpstr>
      <vt:lpstr>Calibri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Entrar no ambiente de desenvolvimento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Erros comuns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/>
  <cp:keywords/>
  <dc:description>generated using python-pptx</dc:description>
  <cp:lastModifiedBy>Jorge Byczynski</cp:lastModifiedBy>
  <cp:revision>85</cp:revision>
  <dcterms:created xsi:type="dcterms:W3CDTF">2013-01-27T09:14:16Z</dcterms:created>
  <dcterms:modified xsi:type="dcterms:W3CDTF">2026-09-09T20:00:02Z</dcterms:modified>
  <cp:category/>
</cp:coreProperties>
</file>