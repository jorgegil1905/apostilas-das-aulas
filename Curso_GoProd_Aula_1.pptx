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Curso GoProd — Aula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Conceitos Fundamentais do GoProd, Natural e Adabas</a:t>
            </a:r>
          </a:p>
          <a:p>
            <a:r>
              <a:t>Introdução, objetos, fluxo de desenvolvimento e boas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1/23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Entender o que é GoProd</a:t>
            </a:r>
          </a:p>
          <a:p>
            <a:pPr>
              <a:spcAft>
                <a:spcPts val="800"/>
              </a:spcAft>
              <a:defRPr sz="2200"/>
            </a:pPr>
            <a:r>
              <a:t>Conhecer a relação entre GoProd, Natural e Adabas</a:t>
            </a:r>
          </a:p>
          <a:p>
            <a:pPr>
              <a:spcAft>
                <a:spcPts val="800"/>
              </a:spcAft>
              <a:defRPr sz="2200"/>
            </a:pPr>
            <a:r>
              <a:t>Conhecer ambientes, objetos e programas</a:t>
            </a:r>
          </a:p>
          <a:p>
            <a:pPr>
              <a:spcAft>
                <a:spcPts val="800"/>
              </a:spcAft>
              <a:defRPr sz="2200"/>
            </a:pPr>
            <a:r>
              <a:t>Entender compilação, testes e promoção</a:t>
            </a:r>
          </a:p>
          <a:p>
            <a:pPr>
              <a:spcAft>
                <a:spcPts val="800"/>
              </a:spcAft>
              <a:defRPr sz="2200"/>
            </a:pPr>
            <a:r>
              <a:t>Aprender termos usados no dia a 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GoProd?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Ambiente/processo de desenvolvimento e manutenção de aplicações</a:t>
            </a:r>
          </a:p>
          <a:p>
            <a:pPr>
              <a:spcAft>
                <a:spcPts val="800"/>
              </a:spcAft>
              <a:defRPr sz="2200"/>
            </a:pPr>
            <a:r>
              <a:t>Muito associado a ambientes corporativos com Natural e Adabas</a:t>
            </a:r>
          </a:p>
          <a:p>
            <a:pPr>
              <a:spcAft>
                <a:spcPts val="800"/>
              </a:spcAft>
              <a:defRPr sz="2200"/>
            </a:pPr>
            <a:r>
              <a:t>Ajuda a organizar o ciclo de manutenção e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Onde entra o Natural?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Linguagem de programação usada em ambientes de grande porte</a:t>
            </a:r>
          </a:p>
          <a:p>
            <a:pPr>
              <a:spcAft>
                <a:spcPts val="800"/>
              </a:spcAft>
              <a:defRPr sz="2200"/>
            </a:pPr>
            <a:r>
              <a:t>Lê e processa dados</a:t>
            </a:r>
          </a:p>
          <a:p>
            <a:pPr>
              <a:spcAft>
                <a:spcPts val="800"/>
              </a:spcAft>
              <a:defRPr sz="2200"/>
            </a:pPr>
            <a:r>
              <a:t>Inclui, altera e exclui registros</a:t>
            </a:r>
          </a:p>
          <a:p>
            <a:pPr>
              <a:spcAft>
                <a:spcPts val="800"/>
              </a:spcAft>
              <a:defRPr sz="2200"/>
            </a:pPr>
            <a:r>
              <a:t>Gera relatórios e chama outros programas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Onde entra o Adabas?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Banco de dados tradicionalmente associado ao ecossistema Natural</a:t>
            </a:r>
          </a:p>
          <a:p>
            <a:pPr>
              <a:spcAft>
                <a:spcPts val="800"/>
              </a:spcAft>
              <a:defRPr sz="2200"/>
            </a:pPr>
            <a:r>
              <a:t>Armazena e disponibiliza os dados das aplicações</a:t>
            </a:r>
          </a:p>
          <a:p>
            <a:pPr>
              <a:spcAft>
                <a:spcPts val="800"/>
              </a:spcAft>
              <a:defRPr sz="2200"/>
            </a:pPr>
            <a:r>
              <a:t>Natural → Adabas →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5/23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GoProd + Natural + Adabas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GoProd: gestão/manutenção do ciclo</a:t>
            </a:r>
          </a:p>
          <a:p>
            <a:pPr>
              <a:spcAft>
                <a:spcPts val="800"/>
              </a:spcAft>
              <a:defRPr sz="2200"/>
            </a:pPr>
            <a:r>
              <a:t>Natural: lógica de aplicação</a:t>
            </a:r>
          </a:p>
          <a:p>
            <a:pPr>
              <a:spcAft>
                <a:spcPts val="800"/>
              </a:spcAft>
              <a:defRPr sz="2200"/>
            </a:pPr>
            <a:r>
              <a:t>Adabas: dados</a:t>
            </a:r>
          </a:p>
          <a:p>
            <a:pPr>
              <a:spcAft>
                <a:spcPts val="800"/>
              </a:spcAft>
              <a:defRPr sz="2200"/>
            </a:pPr>
            <a:r>
              <a:t>Fluxo: GoProd → Natural → Adabas →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um programa?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Conjunto de instruções que determina o processamento</a:t>
            </a:r>
          </a:p>
          <a:p>
            <a:pPr>
              <a:spcAft>
                <a:spcPts val="800"/>
              </a:spcAft>
              <a:defRPr sz="2200"/>
            </a:pPr>
            <a:r>
              <a:t>Exemplo: DEFINE DATA → INPUT → DISPLAY → END</a:t>
            </a:r>
          </a:p>
          <a:p>
            <a:pPr>
              <a:spcAft>
                <a:spcPts val="800"/>
              </a:spcAft>
              <a:defRPr sz="2200"/>
            </a:pPr>
            <a:r>
              <a:t>O programa pode receber, processar e apresentar informações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7/23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Objetos Natural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PROGRAM — programa executável</a:t>
            </a:r>
          </a:p>
          <a:p>
            <a:pPr>
              <a:spcAft>
                <a:spcPts val="800"/>
              </a:spcAft>
              <a:defRPr sz="2200"/>
            </a:pPr>
            <a:r>
              <a:t>SUBPROGRAM — programa chamado por outro</a:t>
            </a:r>
          </a:p>
          <a:p>
            <a:pPr>
              <a:spcAft>
                <a:spcPts val="800"/>
              </a:spcAft>
              <a:defRPr sz="2200"/>
            </a:pPr>
            <a:r>
              <a:t>SUBROUTINE — rotina reutilizável</a:t>
            </a:r>
          </a:p>
          <a:p>
            <a:pPr>
              <a:spcAft>
                <a:spcPts val="800"/>
              </a:spcAft>
              <a:defRPr sz="2200"/>
            </a:pPr>
            <a:r>
              <a:t>MAP — tela/formulário</a:t>
            </a:r>
          </a:p>
          <a:p>
            <a:pPr>
              <a:spcAft>
                <a:spcPts val="800"/>
              </a:spcAft>
              <a:defRPr sz="2200"/>
            </a:pPr>
            <a:r>
              <a:t>COPYCODE — código reutilizável</a:t>
            </a:r>
          </a:p>
          <a:p>
            <a:pPr>
              <a:spcAft>
                <a:spcPts val="800"/>
              </a:spcAft>
              <a:defRPr sz="2200"/>
            </a:pPr>
            <a:r>
              <a:t>LDA / GDA / PDA — áreas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8/23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Library?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Organiza objetos Natural</a:t>
            </a:r>
          </a:p>
          <a:p>
            <a:pPr>
              <a:spcAft>
                <a:spcPts val="800"/>
              </a:spcAft>
              <a:defRPr sz="2200"/>
            </a:pPr>
            <a:r>
              <a:t>Pode conter programas, subprogramas, mapas e copycodes</a:t>
            </a:r>
          </a:p>
          <a:p>
            <a:pPr>
              <a:spcAft>
                <a:spcPts val="800"/>
              </a:spcAft>
              <a:defRPr sz="2200"/>
            </a:pPr>
            <a:r>
              <a:t>Primeira pergunta: em qual Library está o objeto?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de desenvolvimento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Requisito → Análise → Alteração → Compilação → Teste</a:t>
            </a:r>
          </a:p>
          <a:p>
            <a:pPr>
              <a:spcAft>
                <a:spcPts val="800"/>
              </a:spcAft>
              <a:defRPr sz="2200"/>
            </a:pPr>
            <a:r>
              <a:t>→ Homologação → Promoção → Produção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de alterar um programa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Quem chama o programa?</a:t>
            </a:r>
          </a:p>
          <a:p>
            <a:pPr>
              <a:spcAft>
                <a:spcPts val="800"/>
              </a:spcAft>
              <a:defRPr sz="2200"/>
            </a:pPr>
            <a:r>
              <a:t>Quais programas ele chama?</a:t>
            </a:r>
          </a:p>
          <a:p>
            <a:pPr>
              <a:spcAft>
                <a:spcPts val="800"/>
              </a:spcAft>
              <a:defRPr sz="2200"/>
            </a:pPr>
            <a:r>
              <a:t>Quais arquivos Adabas utiliza?</a:t>
            </a:r>
          </a:p>
          <a:p>
            <a:pPr>
              <a:spcAft>
                <a:spcPts val="800"/>
              </a:spcAft>
              <a:defRPr sz="2200"/>
            </a:pPr>
            <a:r>
              <a:t>Quais campos são utilizados?</a:t>
            </a:r>
          </a:p>
          <a:p>
            <a:pPr>
              <a:spcAft>
                <a:spcPts val="800"/>
              </a:spcAft>
              <a:defRPr sz="2200"/>
            </a:pPr>
            <a:r>
              <a:t>Existe COPYCODE, LDA, GDA ou PDA?</a:t>
            </a:r>
          </a:p>
          <a:p>
            <a:pPr>
              <a:spcAft>
                <a:spcPts val="800"/>
              </a:spcAft>
              <a:defRPr sz="2200"/>
            </a:pPr>
            <a:r>
              <a:t>Existe impacto em outros sistemas?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11/23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XREF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Ferramenta importante para análise de impacto</a:t>
            </a:r>
          </a:p>
          <a:p>
            <a:pPr>
              <a:spcAft>
                <a:spcPts val="800"/>
              </a:spcAft>
              <a:defRPr sz="2200"/>
            </a:pPr>
            <a:r>
              <a:t>Ajuda a descobrir referências e relacionamentos</a:t>
            </a:r>
          </a:p>
          <a:p>
            <a:pPr>
              <a:spcAft>
                <a:spcPts val="800"/>
              </a:spcAft>
              <a:defRPr sz="2200"/>
            </a:pPr>
            <a:r>
              <a:t>Use antes de alterar objetos compartilhados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Pesquisa registros conforme uma condição</a:t>
            </a:r>
          </a:p>
          <a:p>
            <a:pPr>
              <a:spcAft>
                <a:spcPts val="800"/>
              </a:spcAft>
              <a:defRPr sz="2200"/>
            </a:pPr>
            <a:r>
              <a:t>Exemplo:</a:t>
            </a:r>
          </a:p>
          <a:p>
            <a:pPr>
              <a:spcAft>
                <a:spcPts val="800"/>
              </a:spcAft>
              <a:defRPr sz="2200"/>
            </a:pPr>
            <a:r>
              <a:t>FIND EMPLOYEES WITH EMPLOYEE-ID = #ID</a:t>
            </a:r>
          </a:p>
          <a:p>
            <a:pPr>
              <a:spcAft>
                <a:spcPts val="800"/>
              </a:spcAft>
              <a:defRPr sz="2200"/>
            </a:pPr>
            <a:r>
              <a:t>DISPLAY FIRST-NAME LAST-NAME</a:t>
            </a:r>
          </a:p>
          <a:p>
            <a:pPr>
              <a:spcAft>
                <a:spcPts val="800"/>
              </a:spcAft>
              <a:defRPr sz="2200"/>
            </a:pPr>
            <a:r>
              <a:t>END-FIND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Percorre registros</a:t>
            </a:r>
          </a:p>
          <a:p>
            <a:pPr>
              <a:spcAft>
                <a:spcPts val="800"/>
              </a:spcAft>
              <a:defRPr sz="2200"/>
            </a:pPr>
            <a:r>
              <a:t>Exemplo:</a:t>
            </a:r>
          </a:p>
          <a:p>
            <a:pPr>
              <a:spcAft>
                <a:spcPts val="800"/>
              </a:spcAft>
              <a:defRPr sz="2200"/>
            </a:pPr>
            <a:r>
              <a:t>READ EMPLOYEES BY EMPLOYEE-ID</a:t>
            </a:r>
          </a:p>
          <a:p>
            <a:pPr>
              <a:spcAft>
                <a:spcPts val="800"/>
              </a:spcAft>
              <a:defRPr sz="2200"/>
            </a:pPr>
            <a:r>
              <a:t>DISPLAY EMPLOYEE-ID FIRST-NAME</a:t>
            </a:r>
          </a:p>
          <a:p>
            <a:pPr>
              <a:spcAft>
                <a:spcPts val="800"/>
              </a:spcAft>
              <a:defRPr sz="2200"/>
            </a:pPr>
            <a:r>
              <a:t>END-READ</a:t>
            </a:r>
          </a:p>
          <a:p>
            <a:pPr>
              <a:spcAft>
                <a:spcPts val="800"/>
              </a:spcAft>
              <a:defRPr sz="2200"/>
            </a:pPr>
            <a:r>
              <a:t>Sempre avalie quantos registros serão processados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Pode modificar o registro corrente</a:t>
            </a:r>
          </a:p>
          <a:p>
            <a:pPr>
              <a:spcAft>
                <a:spcPts val="800"/>
              </a:spcAft>
              <a:defRPr sz="2200"/>
            </a:pPr>
            <a:r>
              <a:t>Exemplo conceitual:</a:t>
            </a:r>
          </a:p>
          <a:p>
            <a:pPr>
              <a:spcAft>
                <a:spcPts val="800"/>
              </a:spcAft>
              <a:defRPr sz="2200"/>
            </a:pPr>
            <a:r>
              <a:t>READ EMPLOYEES BY EMPLOYEE-ID</a:t>
            </a:r>
          </a:p>
          <a:p>
            <a:pPr>
              <a:spcAft>
                <a:spcPts val="800"/>
              </a:spcAft>
              <a:defRPr sz="2200"/>
            </a:pPr>
            <a:r>
              <a:t>MOVE 'ATIVO' TO STATUS</a:t>
            </a:r>
          </a:p>
          <a:p>
            <a:pPr>
              <a:spcAft>
                <a:spcPts val="800"/>
              </a:spcAft>
              <a:defRPr sz="2200"/>
            </a:pPr>
            <a:r>
              <a:t>UPDATE</a:t>
            </a:r>
          </a:p>
          <a:p>
            <a:pPr>
              <a:spcAft>
                <a:spcPts val="800"/>
              </a:spcAft>
              <a:defRPr sz="2200"/>
            </a:pPr>
            <a:r>
              <a:t>END-READ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Utilizado para inserir registros</a:t>
            </a:r>
          </a:p>
          <a:p>
            <a:pPr>
              <a:spcAft>
                <a:spcPts val="800"/>
              </a:spcAft>
              <a:defRPr sz="2200"/>
            </a:pPr>
            <a:r>
              <a:t>Exemplo conceitual:</a:t>
            </a:r>
          </a:p>
          <a:p>
            <a:pPr>
              <a:spcAft>
                <a:spcPts val="800"/>
              </a:spcAft>
              <a:defRPr sz="2200"/>
            </a:pPr>
            <a:r>
              <a:t>STORE EMPLOYEES</a:t>
            </a:r>
          </a:p>
          <a:p>
            <a:pPr>
              <a:spcAft>
                <a:spcPts val="800"/>
              </a:spcAft>
              <a:defRPr sz="2200"/>
            </a:pPr>
            <a:r>
              <a:t>EMPLOYEE-ID = #ID</a:t>
            </a:r>
          </a:p>
          <a:p>
            <a:pPr>
              <a:spcAft>
                <a:spcPts val="800"/>
              </a:spcAft>
              <a:defRPr sz="2200"/>
            </a:pPr>
            <a:r>
              <a:t>FIRST-NAME = #NOME</a:t>
            </a:r>
          </a:p>
          <a:p>
            <a:pPr>
              <a:spcAft>
                <a:spcPts val="800"/>
              </a:spcAft>
              <a:defRPr sz="2200"/>
            </a:pPr>
            <a:r>
              <a:t>END-STORE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Remove o registro corrente</a:t>
            </a:r>
          </a:p>
          <a:p>
            <a:pPr>
              <a:spcAft>
                <a:spcPts val="800"/>
              </a:spcAft>
              <a:defRPr sz="2200"/>
            </a:pPr>
            <a:r>
              <a:t>Antes de executar, confirme exatamente qual registro está sendo manipulado</a:t>
            </a:r>
          </a:p>
          <a:p>
            <a:pPr>
              <a:spcAft>
                <a:spcPts val="800"/>
              </a:spcAft>
              <a:defRPr sz="2200"/>
            </a:pPr>
            <a:r>
              <a:t>Alterações destrutivas exigem atenção especial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Pergunta fundamental: quantos registros meu programa lê?</a:t>
            </a:r>
          </a:p>
          <a:p>
            <a:pPr>
              <a:spcAft>
                <a:spcPts val="800"/>
              </a:spcAft>
              <a:defRPr sz="2200"/>
            </a:pPr>
            <a:r>
              <a:t>100 registros pode ter baixo impacto</a:t>
            </a:r>
          </a:p>
          <a:p>
            <a:pPr>
              <a:spcAft>
                <a:spcPts val="800"/>
              </a:spcAft>
              <a:defRPr sz="2200"/>
            </a:pPr>
            <a:r>
              <a:t>Milhões de registros podem gerar alto I/O e consumo</a:t>
            </a:r>
          </a:p>
          <a:p>
            <a:pPr>
              <a:spcAft>
                <a:spcPts val="800"/>
              </a:spcAft>
              <a:defRPr sz="2200"/>
            </a:pPr>
            <a:r>
              <a:t>Avalie volumetria e acessos ao Adabas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18/23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Erros comuns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Alterar sem analisar impacto</a:t>
            </a:r>
          </a:p>
          <a:p>
            <a:pPr>
              <a:spcAft>
                <a:spcPts val="800"/>
              </a:spcAft>
              <a:defRPr sz="1900"/>
            </a:pPr>
            <a:r>
              <a:t>Não verificar XREF</a:t>
            </a:r>
          </a:p>
          <a:p>
            <a:pPr>
              <a:spcAft>
                <a:spcPts val="800"/>
              </a:spcAft>
              <a:defRPr sz="1900"/>
            </a:pPr>
            <a:r>
              <a:t>Acessos desnecessários ao Adabas</a:t>
            </a:r>
          </a:p>
          <a:p>
            <a:pPr>
              <a:spcAft>
                <a:spcPts val="800"/>
              </a:spcAft>
              <a:defRPr sz="1900"/>
            </a:pPr>
            <a:r>
              <a:t>Não tratar registro inexistente</a:t>
            </a:r>
          </a:p>
          <a:p>
            <a:pPr>
              <a:spcAft>
                <a:spcPts val="800"/>
              </a:spcAft>
              <a:defRPr sz="1900"/>
            </a:pPr>
            <a:r>
              <a:t>Esquecer DISPLAY de teste</a:t>
            </a:r>
          </a:p>
          <a:p>
            <a:pPr>
              <a:spcAft>
                <a:spcPts val="800"/>
              </a:spcAft>
              <a:defRPr sz="1900"/>
            </a:pPr>
            <a:r>
              <a:t>Alterar COPYCODE sem verificar usuários</a:t>
            </a:r>
          </a:p>
          <a:p>
            <a:pPr>
              <a:spcAft>
                <a:spcPts val="800"/>
              </a:spcAft>
              <a:defRPr sz="1900"/>
            </a:pPr>
            <a:r>
              <a:t>Testar apenas cenário positivo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19/23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Checklist do programador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Código compilado</a:t>
            </a:r>
          </a:p>
          <a:p>
            <a:pPr>
              <a:spcAft>
                <a:spcPts val="800"/>
              </a:spcAft>
              <a:defRPr sz="1900"/>
            </a:pPr>
            <a:r>
              <a:t>XREF analisado</a:t>
            </a:r>
          </a:p>
          <a:p>
            <a:pPr>
              <a:spcAft>
                <a:spcPts val="800"/>
              </a:spcAft>
              <a:defRPr sz="1900"/>
            </a:pPr>
            <a:r>
              <a:t>Testes positivos e negativos</a:t>
            </a:r>
          </a:p>
          <a:p>
            <a:pPr>
              <a:spcAft>
                <a:spcPts val="800"/>
              </a:spcAft>
              <a:defRPr sz="1900"/>
            </a:pPr>
            <a:r>
              <a:t>Registro inexistente testado</a:t>
            </a:r>
          </a:p>
          <a:p>
            <a:pPr>
              <a:spcAft>
                <a:spcPts val="800"/>
              </a:spcAft>
              <a:defRPr sz="1900"/>
            </a:pPr>
            <a:r>
              <a:t>Volumetria avaliada</a:t>
            </a:r>
          </a:p>
          <a:p>
            <a:pPr>
              <a:spcAft>
                <a:spcPts val="800"/>
              </a:spcAft>
              <a:defRPr sz="1900"/>
            </a:pPr>
            <a:r>
              <a:t>Acessos ao Adabas avaliados</a:t>
            </a:r>
          </a:p>
          <a:p>
            <a:pPr>
              <a:spcAft>
                <a:spcPts val="800"/>
              </a:spcAft>
              <a:defRPr sz="1900"/>
            </a:pPr>
            <a:r>
              <a:t>Debug removido</a:t>
            </a:r>
          </a:p>
          <a:p>
            <a:pPr>
              <a:spcAft>
                <a:spcPts val="800"/>
              </a:spcAft>
              <a:defRPr sz="1900"/>
            </a:pPr>
            <a:r>
              <a:t>Impacto analisado</a:t>
            </a:r>
          </a:p>
          <a:p>
            <a:pPr>
              <a:spcAft>
                <a:spcPts val="800"/>
              </a:spcAft>
              <a:defRPr sz="1900"/>
            </a:pPr>
            <a:r>
              <a:t>Documentação atualizada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20/23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 da Aula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1. O que fazer antes de alterar?</a:t>
            </a:r>
          </a:p>
          <a:p>
            <a:pPr>
              <a:spcAft>
                <a:spcPts val="800"/>
              </a:spcAft>
              <a:defRPr sz="1900"/>
            </a:pPr>
            <a:r>
              <a:t>2. Qual ferramenta ajuda a analisar referências?</a:t>
            </a:r>
          </a:p>
          <a:p>
            <a:pPr>
              <a:spcAft>
                <a:spcPts val="800"/>
              </a:spcAft>
              <a:defRPr sz="1900"/>
            </a:pPr>
            <a:r>
              <a:t>3. Qual banco está associado ao Natural?</a:t>
            </a:r>
          </a:p>
          <a:p>
            <a:pPr>
              <a:spcAft>
                <a:spcPts val="800"/>
              </a:spcAft>
              <a:defRPr sz="1900"/>
            </a:pPr>
            <a:r>
              <a:t>4. Qual comando pesquisa registros?</a:t>
            </a:r>
          </a:p>
          <a:p>
            <a:pPr>
              <a:spcAft>
                <a:spcPts val="800"/>
              </a:spcAft>
              <a:defRPr sz="1900"/>
            </a:pPr>
            <a:r>
              <a:t>5. Qual comando insere?</a:t>
            </a:r>
          </a:p>
          <a:p>
            <a:pPr>
              <a:spcAft>
                <a:spcPts val="800"/>
              </a:spcAft>
              <a:defRPr sz="1900"/>
            </a:pPr>
            <a:r>
              <a:t>6. Qual comando altera?</a:t>
            </a:r>
          </a:p>
          <a:p>
            <a:pPr>
              <a:spcAft>
                <a:spcPts val="800"/>
              </a:spcAft>
              <a:defRPr sz="1900"/>
            </a:pPr>
            <a:r>
              <a:t>7. Por que a volumetria importa?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21/23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Desafio prático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PROGRAMA</a:t>
            </a:r>
          </a:p>
          <a:p>
            <a:pPr>
              <a:spcAft>
                <a:spcPts val="800"/>
              </a:spcAft>
              <a:defRPr sz="1900"/>
            </a:pPr>
            <a:r>
              <a:t>↓</a:t>
            </a:r>
          </a:p>
          <a:p>
            <a:pPr>
              <a:spcAft>
                <a:spcPts val="800"/>
              </a:spcAft>
              <a:defRPr sz="1900"/>
            </a:pPr>
            <a:r>
              <a:t>FIND CLIENTE</a:t>
            </a:r>
          </a:p>
          <a:p>
            <a:pPr>
              <a:spcAft>
                <a:spcPts val="800"/>
              </a:spcAft>
              <a:defRPr sz="1900"/>
            </a:pPr>
            <a:r>
              <a:t>↓</a:t>
            </a:r>
          </a:p>
          <a:p>
            <a:pPr>
              <a:spcAft>
                <a:spcPts val="800"/>
              </a:spcAft>
              <a:defRPr sz="1900"/>
            </a:pPr>
            <a:r>
              <a:t>CLIENTE ENCONTRADO?</a:t>
            </a:r>
          </a:p>
          <a:p>
            <a:pPr>
              <a:spcAft>
                <a:spcPts val="800"/>
              </a:spcAft>
              <a:defRPr sz="1900"/>
            </a:pPr>
            <a:r>
              <a:t>SIM → DISPLAY CLIENTE</a:t>
            </a:r>
          </a:p>
          <a:p>
            <a:pPr>
              <a:spcAft>
                <a:spcPts val="800"/>
              </a:spcAft>
              <a:defRPr sz="1900"/>
            </a:pPr>
            <a:r>
              <a:t>NÃO → MENSAGEM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22/23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Aula 2 — Comandos Natural na prática</a:t>
            </a:r>
          </a:p>
          <a:p>
            <a:pPr>
              <a:spcAft>
                <a:spcPts val="800"/>
              </a:spcAft>
              <a:defRPr sz="1900"/>
            </a:pPr>
            <a:r>
              <a:t>DEFINE DATA</a:t>
            </a:r>
          </a:p>
          <a:p>
            <a:pPr>
              <a:spcAft>
                <a:spcPts val="800"/>
              </a:spcAft>
              <a:defRPr sz="1900"/>
            </a:pPr>
            <a:r>
              <a:t>INPUT / DISPLAY</a:t>
            </a:r>
          </a:p>
          <a:p>
            <a:pPr>
              <a:spcAft>
                <a:spcPts val="800"/>
              </a:spcAft>
              <a:defRPr sz="1900"/>
            </a:pPr>
            <a:r>
              <a:t>FIND / READ</a:t>
            </a:r>
          </a:p>
          <a:p>
            <a:pPr>
              <a:spcAft>
                <a:spcPts val="800"/>
              </a:spcAft>
              <a:defRPr sz="1900"/>
            </a:pPr>
            <a:r>
              <a:t>IF / DECIDE</a:t>
            </a:r>
          </a:p>
          <a:p>
            <a:pPr>
              <a:spcAft>
                <a:spcPts val="800"/>
              </a:spcAft>
              <a:defRPr sz="1900"/>
            </a:pPr>
            <a:r>
              <a:t>FOR / REPEAT</a:t>
            </a:r>
          </a:p>
          <a:p>
            <a:pPr>
              <a:spcAft>
                <a:spcPts val="800"/>
              </a:spcAft>
              <a:defRPr sz="1900"/>
            </a:pPr>
            <a:r>
              <a:t>ESCAPE</a:t>
            </a:r>
          </a:p>
          <a:p>
            <a:pPr>
              <a:spcAft>
                <a:spcPts val="800"/>
              </a:spcAft>
              <a:defRPr sz="1900"/>
            </a:pPr>
            <a:r>
              <a:t>Tratamento de erros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23/23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